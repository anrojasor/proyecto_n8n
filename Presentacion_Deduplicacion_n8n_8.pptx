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charts/chart1.xml" ContentType="application/vnd.openxmlformats-officedocument.drawingml.chart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charts/chart2.xml" ContentType="application/vnd.openxmlformats-officedocument.drawingml.chart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0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Solución" id="{E3652E9D-0881-5AC1-4877-400BA1E8B761}">
          <p14:sldIdLst>
            <p14:sldId id="256"/>
            <p14:sldId id="257"/>
            <p14:sldId id="258"/>
            <p14:sldId id="259"/>
            <p14:sldId id="260"/>
          </p14:sldIdLst>
        </p14:section>
        <p14:section name="Resultados" id="{B9CEA4B3-5B09-0B82-6040-CA34E16C8A0C}">
          <p14:sldIdLst>
            <p14:sldId id="261"/>
            <p14:sldId id="262"/>
          </p14:sldIdLst>
        </p14:section>
        <p14:section name="Operación" id="{804353C7-822E-200E-B88E-0B3D940EEF32}">
          <p14:sldIdLst>
            <p14:sldId id="263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11" d="100"/>
          <a:sy n="111" d="100"/>
        </p:scale>
        <p:origin x="558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_rels/chart2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s-MX"/>
  <c:roundedCorners val="1"/>
  <c:style val="2"/>
  <c:chart>
    <c:title>
      <c:tx>
        <c:rich>
          <a:bodyPr/>
          <a:lstStyle/>
          <a:p>
            <a:pPr>
              <a:defRPr sz="1300" b="0" i="0" u="none" strike="noStrike">
                <a:solidFill>
                  <a:srgbClr val="13293D"/>
                </a:solidFill>
                <a:latin typeface="+mn-lt"/>
              </a:defRPr>
            </a:pPr>
            <a:r>
              <a:rPr lang="es-MX" sz="1300" b="0" i="0" u="none" strike="noStrike">
                <a:solidFill>
                  <a:srgbClr val="13293D"/>
                </a:solidFill>
                <a:latin typeface="+mn-lt"/>
              </a:rPr>
              <a:t>Peso de cada señal en el puntaje</a:t>
            </a:r>
          </a:p>
        </c:rich>
      </c:tx>
      <c:overlay val="0"/>
    </c:title>
    <c:autoTitleDeleted val="0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Peso</c:v>
                </c:pt>
              </c:strCache>
            </c:strRef>
          </c:tx>
          <c:spPr>
            <a:solidFill>
              <a:srgbClr val="0F7C80"/>
            </a:solidFill>
            <a:effectLst/>
          </c:spPr>
          <c:invertIfNegative val="0"/>
          <c:dLbls>
            <c:numFmt formatCode="0&quot;%&quot;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000" b="0" i="0" u="none" strike="noStrike">
                    <a:solidFill>
                      <a:srgbClr val="1F2933"/>
                    </a:solidFill>
                    <a:latin typeface="+mn-lt"/>
                  </a:defRPr>
                </a:pPr>
                <a:endParaRPr lang="es-CO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Sheet1!$A$2:$A$7</c:f>
              <c:strCache>
                <c:ptCount val="6"/>
                <c:pt idx="0">
                  <c:v>Nombre</c:v>
                </c:pt>
                <c:pt idx="1">
                  <c:v>Fecha de nacimiento</c:v>
                </c:pt>
                <c:pt idx="2">
                  <c:v>Documento</c:v>
                </c:pt>
                <c:pt idx="3">
                  <c:v>Teléfono</c:v>
                </c:pt>
                <c:pt idx="4">
                  <c:v>Correo</c:v>
                </c:pt>
                <c:pt idx="5">
                  <c:v>Dirección</c:v>
                </c:pt>
              </c:strCache>
            </c: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35</c:v>
                </c:pt>
                <c:pt idx="1">
                  <c:v>25</c:v>
                </c:pt>
                <c:pt idx="2">
                  <c:v>25</c:v>
                </c:pt>
                <c:pt idx="3">
                  <c:v>5</c:v>
                </c:pt>
                <c:pt idx="4">
                  <c:v>5</c:v>
                </c:pt>
                <c:pt idx="5">
                  <c:v>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F460-4DA5-AE81-445003D2E87F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axMin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1F2933"/>
                </a:solidFill>
                <a:latin typeface="+mn-lt"/>
              </a:defRPr>
            </a:pPr>
            <a:endParaRPr lang="es-CO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ax val="40"/>
        </c:scaling>
        <c:delete val="1"/>
        <c:axPos val="t"/>
        <c:numFmt formatCode="General" sourceLinked="0"/>
        <c:majorTickMark val="out"/>
        <c:minorTickMark val="none"/>
        <c:tickLblPos val="low"/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s-MX"/>
  <c:roundedCorners val="1"/>
  <c:style val="2"/>
  <c:chart>
    <c:title>
      <c:tx>
        <c:rich>
          <a:bodyPr/>
          <a:lstStyle/>
          <a:p>
            <a:pPr>
              <a:defRPr sz="1300" b="0" i="0" u="none" strike="noStrike">
                <a:solidFill>
                  <a:srgbClr val="13293D"/>
                </a:solidFill>
                <a:latin typeface="+mn-lt"/>
              </a:defRPr>
            </a:pPr>
            <a:r>
              <a:rPr lang="es-MX" sz="1300" b="0" i="0" u="none" strike="noStrike">
                <a:solidFill>
                  <a:srgbClr val="13293D"/>
                </a:solidFill>
                <a:latin typeface="+mn-lt"/>
              </a:rPr>
              <a:t>Decisiones del agente en la zona gris (todas correctas)</a:t>
            </a:r>
          </a:p>
        </c:rich>
      </c:tx>
      <c:overlay val="0"/>
    </c:title>
    <c:autoTitleDeleted val="0"/>
    <c:plotArea>
      <c:layout/>
      <c:barChart>
        <c:barDir val="bar"/>
        <c:grouping val="stack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DUPLICADO</c:v>
                </c:pt>
              </c:strCache>
            </c:strRef>
          </c:tx>
          <c:spPr>
            <a:solidFill>
              <a:srgbClr val="3E8E5E"/>
            </a:solidFill>
            <a:effectLst/>
          </c:spPr>
          <c:invertIfNegative val="0"/>
          <c:dLbls>
            <c:numFmt formatCode="0;;;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000" b="0" i="0" u="none" strike="noStrike">
                    <a:solidFill>
                      <a:srgbClr val="FFFFFF"/>
                    </a:solidFill>
                    <a:latin typeface="+mn-lt"/>
                  </a:defRPr>
                </a:pPr>
                <a:endParaRPr lang="es-CO"/>
              </a:p>
            </c:txPr>
            <c:dLblPos val="in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Sheet1!$A$2:$A$7</c:f>
              <c:strCache>
                <c:ptCount val="6"/>
                <c:pt idx="0">
                  <c:v>Gemelos</c:v>
                </c:pt>
                <c:pt idx="1">
                  <c:v>Homónimo con misma fecha</c:v>
                </c:pt>
                <c:pt idx="2">
                  <c:v>Fecha faltante</c:v>
                </c:pt>
                <c:pt idx="3">
                  <c:v>TI→CC número distinto</c:v>
                </c:pt>
                <c:pt idx="4">
                  <c:v>Fecha mal digitada</c:v>
                </c:pt>
                <c:pt idx="5">
                  <c:v>Documento + nombre errados</c:v>
                </c:pt>
              </c:strCache>
            </c: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0</c:v>
                </c:pt>
                <c:pt idx="1">
                  <c:v>0</c:v>
                </c:pt>
                <c:pt idx="2">
                  <c:v>22</c:v>
                </c:pt>
                <c:pt idx="3">
                  <c:v>19</c:v>
                </c:pt>
                <c:pt idx="4">
                  <c:v>14</c:v>
                </c:pt>
                <c:pt idx="5">
                  <c:v>13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F944-4EE2-972C-5FA259CAD192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DISTINTO</c:v>
                </c:pt>
              </c:strCache>
            </c:strRef>
          </c:tx>
          <c:spPr>
            <a:solidFill>
              <a:srgbClr val="C4553A"/>
            </a:solidFill>
            <a:effectLst/>
          </c:spPr>
          <c:invertIfNegative val="0"/>
          <c:dLbls>
            <c:numFmt formatCode="0;;;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000" b="0" i="0" u="none" strike="noStrike">
                    <a:solidFill>
                      <a:srgbClr val="FFFFFF"/>
                    </a:solidFill>
                    <a:latin typeface="+mn-lt"/>
                  </a:defRPr>
                </a:pPr>
                <a:endParaRPr lang="es-CO"/>
              </a:p>
            </c:txPr>
            <c:dLblPos val="in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Sheet1!$A$2:$A$7</c:f>
              <c:strCache>
                <c:ptCount val="6"/>
                <c:pt idx="0">
                  <c:v>Gemelos</c:v>
                </c:pt>
                <c:pt idx="1">
                  <c:v>Homónimo con misma fecha</c:v>
                </c:pt>
                <c:pt idx="2">
                  <c:v>Fecha faltante</c:v>
                </c:pt>
                <c:pt idx="3">
                  <c:v>TI→CC número distinto</c:v>
                </c:pt>
                <c:pt idx="4">
                  <c:v>Fecha mal digitada</c:v>
                </c:pt>
                <c:pt idx="5">
                  <c:v>Documento + nombre errados</c:v>
                </c:pt>
              </c:strCache>
            </c:strRef>
          </c:cat>
          <c:val>
            <c:numRef>
              <c:f>Sheet1!$C$2:$C$7</c:f>
              <c:numCache>
                <c:formatCode>General</c:formatCode>
                <c:ptCount val="6"/>
                <c:pt idx="0">
                  <c:v>27</c:v>
                </c:pt>
                <c:pt idx="1">
                  <c:v>15</c:v>
                </c:pt>
                <c:pt idx="2">
                  <c:v>0</c:v>
                </c:pt>
                <c:pt idx="3">
                  <c:v>0</c:v>
                </c:pt>
                <c:pt idx="4">
                  <c:v>0</c:v>
                </c:pt>
                <c:pt idx="5">
                  <c:v>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F944-4EE2-972C-5FA259CAD192}"/>
            </c:ext>
          </c:extLst>
        </c:ser>
        <c:dLbls>
          <c:dLblPos val="inEnd"/>
          <c:showLegendKey val="0"/>
          <c:showVal val="1"/>
          <c:showCatName val="0"/>
          <c:showSerName val="0"/>
          <c:showPercent val="0"/>
          <c:showBubbleSize val="0"/>
        </c:dLbls>
        <c:gapWidth val="45"/>
        <c:overlap val="100"/>
        <c:axId val="2094734554"/>
        <c:axId val="2094734552"/>
      </c:barChart>
      <c:catAx>
        <c:axId val="2094734554"/>
        <c:scaling>
          <c:orientation val="maxMin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1F2933"/>
                </a:solidFill>
                <a:latin typeface="+mn-lt"/>
              </a:defRPr>
            </a:pPr>
            <a:endParaRPr lang="es-CO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1"/>
        <c:axPos val="t"/>
        <c:numFmt formatCode="General" sourceLinked="0"/>
        <c:majorTickMark val="out"/>
        <c:minorTickMark val="none"/>
        <c:tickLblPos val="low"/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100">
              <a:solidFill>
                <a:srgbClr val="1F2933"/>
              </a:solidFill>
              <a:latin typeface="+mn-lt"/>
              <a:cs typeface="+mn-lt"/>
            </a:defRPr>
          </a:pPr>
          <a:endParaRPr lang="es-CO"/>
        </a:p>
      </c:txPr>
    </c:legend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25683168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Prototipo que detecta y unifica clientes duplicados. n8n orquesta el proceso, un modelo de reglas en Python resuelve los casos claros y un agente de IA (Claude Haiku 5.5) decide los casos dudosos y explica cada decisión.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El riesgo es asimétrico: no unir un duplicado deja un registro de más; unir a dos personas distintas mezcla sus historiales. Por eso el sistema prefiere dudar antes que fusionar mal. Cifras de la ejecución 20261020091555, medidas con evaluar.py contra la tabla de verdad.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El flujo de n8n tiene 48 nodos. Lee control.xlsx; si hay una solicitud PENDIENTE la marca EN_PROCESO para evitar ejecuciones dobles. Llama a dedup.py, envía la zona gris al agente en lotes, reintenta los pares sin respuesta, aplica las decisiones con un script que las valida, escribe la tabla maestra y los logs, marca COMPLETADO y genera el informe.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Comparar todos contra todos es cuadrático; el blocking es lo que hace viable el sistema. Regla NUIP: TI → CC con el mismo número, la misma fecha y un nombre similar suma 1,0 directamente. El registro dorado elige para los nombres la variante más frecuente en toda la tabla y para el contacto el dato más reciente. Los umbrales se configuran en dedup.py.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Justificaciones textuales del agente en la ejecución final (datos sintéticos). El agente no orquesta: eso lo hace n8n de forma determinista. Todo lo que propone pasa por aplicar_decisiones.py, que valida antes de tocar los datos. Salida estructurada por par: id_a, id_b, decision (DUPLICADO, DISTINTO o INCIERTO), confianza y justificacion. El prompt completo está en prompts_agente.md.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Embudo: 3.325 registros; 1.483 pares candidatos tras el blocking; 277 con evidencia suficiente (167 fusiones automáticas y 110 pares a la zona gris); 235 fusiones (167 del modelo y 68 del agente, que además descartó 42 pares como personas distintas); 0 casos a revisión humana. Los datos de prueba tienen 167 duplicados fáciles, 68 difíciles y 90 personas trampa. El agente separó a todos los gemelos y homónimos con la misma fecha aplicando dos reglas: los gemelos tienen distinto primer nombre y una persona tiene una sola cédula. Confianza media: 0,90 en DUPLICADO y 0,89 en DISTINTO.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El costo escala con el tamaño de la zona gris, no con el total de clientes; por eso es clave que el modelo resuelva lo fácil. Próximos pasos además de los de la diapositiva: revisión humana con formulario en n8n en vez de Excel, y migración a SQL Server cambiando solo los nodos de lectura y escritura.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Comando de evaluación: python evaluar.py --clientes datos/clientes.xlsx --verdad datos/verdad.xlsx --fusiones datos/log_fusiones.xlsx --decisiones salida/decisiones_agente.xlsx --salida salida/evaluacion.xlsx. iniciar_n8n.bat define NODES_EXCLUDE=[] (habilita Execute Command), N8N_RESTRICT_FILE_ACCESS_TO=C:\dedup, GENERIC_TIMEZONE=America/Bogota y N8N_ENFORCE_SETTINGS_FILE_PERMISSIONS=false. Salidas: datos\clientes.xlsx (tabla maestra), log_ejecuciones.xlsx, log_fusiones.xlsx; salida\decisiones_agente.xlsx, revision_humana.xlsx e informe_&lt;id&gt;.md. Problemas frecuentes: un Excel abierto hace fallar la escritura; si no aparece Execute Command, arrancar con iniciar_n8n.bat; nodos de Claude en rojo, volver a elegir la credencial; el error workflow solo corre en ejecuciones automáticas.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ORTADA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2011680"/>
            <a:ext cx="9601200" cy="1737360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 algn="l">
              <a:buNone/>
              <a:defRPr lang="en-US" sz="4400" b="1" dirty="0">
                <a:solidFill>
                  <a:schemeClr val="bg1"/>
                </a:solidFill>
              </a:defRPr>
            </a:lvl1pPr>
          </a:lstStyle>
          <a:p>
            <a:pPr marL="0" indent="0" algn="l">
              <a:buNone/>
            </a:pPr>
            <a:endParaRPr lang="en-US" sz="4400" dirty="0"/>
          </a:p>
        </p:txBody>
      </p:sp>
      <p:sp>
        <p:nvSpPr>
          <p:cNvPr id="3" name="Text 0"/>
          <p:cNvSpPr>
            <a:spLocks noGrp="1"/>
          </p:cNvSpPr>
          <p:nvPr>
            <p:ph type="body" idx="101" hasCustomPrompt="1"/>
          </p:nvPr>
        </p:nvSpPr>
        <p:spPr>
          <a:xfrm>
            <a:off x="548640" y="3977640"/>
            <a:ext cx="9601200" cy="1097280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>
              <a:buNone/>
              <a:defRPr lang="en-US" sz="1800" dirty="0">
                <a:solidFill>
                  <a:schemeClr val="accent6"/>
                </a:solidFill>
              </a:defRPr>
            </a:lvl1pPr>
          </a:lstStyle>
          <a:p>
            <a:pPr marL="0" indent="0">
              <a:buNone/>
            </a:pPr>
            <a:endParaRPr lang="en-US" sz="180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ECCION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2377440"/>
            <a:ext cx="8229600" cy="1097280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 algn="l">
              <a:buNone/>
              <a:defRPr lang="en-US" sz="4000" b="1" dirty="0">
                <a:solidFill>
                  <a:schemeClr val="bg1"/>
                </a:solidFill>
              </a:defRPr>
            </a:lvl1pPr>
          </a:lstStyle>
          <a:p>
            <a:pPr marL="0" indent="0" algn="l">
              <a:buNone/>
            </a:pPr>
            <a:endParaRPr lang="en-US" sz="4000" dirty="0"/>
          </a:p>
        </p:txBody>
      </p:sp>
      <p:sp>
        <p:nvSpPr>
          <p:cNvPr id="3" name="Text 0"/>
          <p:cNvSpPr>
            <a:spLocks noGrp="1"/>
          </p:cNvSpPr>
          <p:nvPr>
            <p:ph type="body" idx="101" hasCustomPrompt="1"/>
          </p:nvPr>
        </p:nvSpPr>
        <p:spPr>
          <a:xfrm>
            <a:off x="548640" y="3611880"/>
            <a:ext cx="8229600" cy="914400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>
              <a:buNone/>
              <a:defRPr lang="en-US" sz="1800" dirty="0">
                <a:solidFill>
                  <a:schemeClr val="accent6"/>
                </a:solidFill>
              </a:defRPr>
            </a:lvl1pPr>
          </a:lstStyle>
          <a:p>
            <a:pPr marL="0" indent="0">
              <a:buNone/>
            </a:pP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5855" y="635508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IDO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320040"/>
            <a:ext cx="11094415" cy="777240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 algn="l">
              <a:buNone/>
              <a:defRPr lang="en-US" sz="3000" b="1" dirty="0">
                <a:solidFill>
                  <a:schemeClr val="tx2"/>
                </a:solidFill>
              </a:defRPr>
            </a:lvl1pPr>
          </a:lstStyle>
          <a:p>
            <a:pPr marL="0" indent="0" algn="l">
              <a:buNone/>
            </a:pPr>
            <a:endParaRPr lang="en-US" sz="3000" dirty="0"/>
          </a:p>
        </p:txBody>
      </p:sp>
      <p:sp>
        <p:nvSpPr>
          <p:cNvPr id="3" name="Text 0"/>
          <p:cNvSpPr/>
          <p:nvPr/>
        </p:nvSpPr>
        <p:spPr>
          <a:xfrm>
            <a:off x="548640" y="635508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chemeClr val="accent5"/>
                </a:solidFill>
              </a:rPr>
              <a:t>Deduplicación de clientes · n8n + agente de IA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5855" y="635508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5" Type="http://schemas.openxmlformats.org/officeDocument/2006/relationships/theme" Target="../theme/theme1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5855" y="635508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‹Nº›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1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4.xml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chart" Target="../charts/chart2.xml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4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4.xml"/><Relationship Id="rId5" Type="http://schemas.openxmlformats.org/officeDocument/2006/relationships/image" Target="../media/image10.png"/><Relationship Id="rId4" Type="http://schemas.openxmlformats.org/officeDocument/2006/relationships/image" Target="../media/image9.pn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2011680"/>
            <a:ext cx="960120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l">
              <a:buNone/>
            </a:pPr>
            <a:r>
              <a:rPr lang="en-US" sz="4400" b="1" dirty="0">
                <a:solidFill>
                  <a:schemeClr val="bg1"/>
                </a:solidFill>
              </a:rPr>
              <a:t>Deduplicación de clientes con n8n y un agente de IA</a:t>
            </a:r>
            <a:endParaRPr lang="en-US" sz="4400" dirty="0"/>
          </a:p>
        </p:txBody>
      </p:sp>
      <p:sp>
        <p:nvSpPr>
          <p:cNvPr id="3" name="Text 0"/>
          <p:cNvSpPr>
            <a:spLocks noGrp="1"/>
          </p:cNvSpPr>
          <p:nvPr>
            <p:ph type="body" idx="101" hasCustomPrompt="1"/>
          </p:nvPr>
        </p:nvSpPr>
        <p:spPr>
          <a:xfrm>
            <a:off x="548640" y="3977640"/>
            <a:ext cx="96012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800" dirty="0">
                <a:solidFill>
                  <a:schemeClr val="accent6"/>
                </a:solidFill>
              </a:rPr>
              <a:t>Prototipo con datos sintéticos en Excel: arquitectura, resultados y guía de ejecución</a:t>
            </a:r>
            <a:endParaRPr lang="en-US" sz="1800" dirty="0"/>
          </a:p>
          <a:p>
            <a:pPr marL="0" indent="0">
              <a:buNone/>
            </a:pPr>
            <a:r>
              <a:rPr lang="en-US" sz="1400" dirty="0">
                <a:solidFill>
                  <a:schemeClr val="accent6"/>
                </a:solidFill>
              </a:rPr>
              <a:t>Octubre 2026</a:t>
            </a:r>
            <a:endParaRPr lang="en-US" sz="1800" dirty="0"/>
          </a:p>
        </p:txBody>
      </p:sp>
      <p:sp>
        <p:nvSpPr>
          <p:cNvPr id="4" name="icono-fondo"/>
          <p:cNvSpPr/>
          <p:nvPr/>
        </p:nvSpPr>
        <p:spPr>
          <a:xfrm>
            <a:off x="10332720" y="2331720"/>
            <a:ext cx="1280160" cy="1280160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pic>
        <p:nvPicPr>
          <p:cNvPr id="5" name="icono-FaUsers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665562" y="2664562"/>
            <a:ext cx="614477" cy="614477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320040"/>
            <a:ext cx="1109441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chemeClr val="tx2"/>
                </a:solidFill>
              </a:rPr>
              <a:t>Todos los duplicados resueltos, sin fusiones incorrectas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280160"/>
            <a:ext cx="5120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000" b="1" dirty="0">
                <a:solidFill>
                  <a:schemeClr val="accent1"/>
                </a:solidFill>
              </a:rPr>
              <a:t>El problema</a:t>
            </a:r>
            <a:endParaRPr lang="en-US" sz="2000" dirty="0"/>
          </a:p>
        </p:txBody>
      </p:sp>
      <p:sp>
        <p:nvSpPr>
          <p:cNvPr id="4" name="icono-fondo"/>
          <p:cNvSpPr/>
          <p:nvPr/>
        </p:nvSpPr>
        <p:spPr>
          <a:xfrm>
            <a:off x="548640" y="1828800"/>
            <a:ext cx="566928" cy="566928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pic>
        <p:nvPicPr>
          <p:cNvPr id="5" name="icono-FaIdCard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6041" y="1976201"/>
            <a:ext cx="272125" cy="272125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1298448" y="1792224"/>
            <a:ext cx="43891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b="1" dirty="0">
                <a:solidFill>
                  <a:schemeClr val="tx2"/>
                </a:solidFill>
              </a:rPr>
              <a:t>Cambio de documento</a:t>
            </a:r>
            <a:endParaRPr lang="en-US" sz="1600" dirty="0"/>
          </a:p>
        </p:txBody>
      </p:sp>
      <p:sp>
        <p:nvSpPr>
          <p:cNvPr id="7" name="Text 4"/>
          <p:cNvSpPr txBox="1"/>
          <p:nvPr/>
        </p:nvSpPr>
        <p:spPr>
          <a:xfrm>
            <a:off x="1298448" y="2157984"/>
            <a:ext cx="4389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chemeClr val="tx1"/>
                </a:solidFill>
              </a:rPr>
              <a:t>TI → CC; antes del 2000 el número cambiaba.</a:t>
            </a:r>
            <a:endParaRPr lang="en-US" sz="1400" dirty="0"/>
          </a:p>
        </p:txBody>
      </p:sp>
      <p:sp>
        <p:nvSpPr>
          <p:cNvPr id="8" name="icono-fondo"/>
          <p:cNvSpPr/>
          <p:nvPr/>
        </p:nvSpPr>
        <p:spPr>
          <a:xfrm>
            <a:off x="548640" y="2852928"/>
            <a:ext cx="566928" cy="566928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pic>
        <p:nvPicPr>
          <p:cNvPr id="9" name="icono-FaKeyboard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96041" y="3000329"/>
            <a:ext cx="272125" cy="272125"/>
          </a:xfrm>
          <a:prstGeom prst="rect">
            <a:avLst/>
          </a:prstGeom>
        </p:spPr>
      </p:pic>
      <p:sp>
        <p:nvSpPr>
          <p:cNvPr id="10" name="Text 6"/>
          <p:cNvSpPr txBox="1"/>
          <p:nvPr/>
        </p:nvSpPr>
        <p:spPr>
          <a:xfrm>
            <a:off x="1298448" y="2816352"/>
            <a:ext cx="43891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b="1" dirty="0">
                <a:solidFill>
                  <a:schemeClr val="tx2"/>
                </a:solidFill>
              </a:rPr>
              <a:t>Errores de digitación</a:t>
            </a:r>
            <a:endParaRPr lang="en-US" sz="1600" dirty="0"/>
          </a:p>
        </p:txBody>
      </p:sp>
      <p:sp>
        <p:nvSpPr>
          <p:cNvPr id="11" name="Text 7"/>
          <p:cNvSpPr txBox="1"/>
          <p:nvPr/>
        </p:nvSpPr>
        <p:spPr>
          <a:xfrm>
            <a:off x="1298448" y="3182112"/>
            <a:ext cx="4389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chemeClr val="tx1"/>
                </a:solidFill>
              </a:rPr>
              <a:t>Nombres, documentos y fechas mal escritos.</a:t>
            </a:r>
            <a:endParaRPr lang="en-US" sz="1400" dirty="0"/>
          </a:p>
        </p:txBody>
      </p:sp>
      <p:sp>
        <p:nvSpPr>
          <p:cNvPr id="12" name="icono-fondo"/>
          <p:cNvSpPr/>
          <p:nvPr/>
        </p:nvSpPr>
        <p:spPr>
          <a:xfrm>
            <a:off x="548640" y="3877056"/>
            <a:ext cx="566928" cy="566928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pic>
        <p:nvPicPr>
          <p:cNvPr id="13" name="icono-FaQuestionCircle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96041" y="4024457"/>
            <a:ext cx="272125" cy="272125"/>
          </a:xfrm>
          <a:prstGeom prst="rect">
            <a:avLst/>
          </a:prstGeom>
        </p:spPr>
      </p:pic>
      <p:sp>
        <p:nvSpPr>
          <p:cNvPr id="14" name="Text 9"/>
          <p:cNvSpPr txBox="1"/>
          <p:nvPr/>
        </p:nvSpPr>
        <p:spPr>
          <a:xfrm>
            <a:off x="1298448" y="3840480"/>
            <a:ext cx="43891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b="1" dirty="0">
                <a:solidFill>
                  <a:schemeClr val="tx2"/>
                </a:solidFill>
              </a:rPr>
              <a:t>Datos incompletos</a:t>
            </a:r>
            <a:endParaRPr lang="en-US" sz="1600" dirty="0"/>
          </a:p>
        </p:txBody>
      </p:sp>
      <p:sp>
        <p:nvSpPr>
          <p:cNvPr id="15" name="Text 10"/>
          <p:cNvSpPr txBox="1"/>
          <p:nvPr/>
        </p:nvSpPr>
        <p:spPr>
          <a:xfrm>
            <a:off x="1298448" y="4206240"/>
            <a:ext cx="4389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chemeClr val="tx1"/>
                </a:solidFill>
              </a:rPr>
              <a:t>Fecha, teléfono o correo vacíos.</a:t>
            </a:r>
            <a:endParaRPr lang="en-US" sz="1400" dirty="0"/>
          </a:p>
        </p:txBody>
      </p:sp>
      <p:sp>
        <p:nvSpPr>
          <p:cNvPr id="16" name="icono-fondo"/>
          <p:cNvSpPr/>
          <p:nvPr/>
        </p:nvSpPr>
        <p:spPr>
          <a:xfrm>
            <a:off x="548640" y="4901184"/>
            <a:ext cx="566928" cy="566928"/>
          </a:xfrm>
          <a:prstGeom prst="ellipse">
            <a:avLst/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pic>
        <p:nvPicPr>
          <p:cNvPr id="17" name="icono-FaUsers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96041" y="5048585"/>
            <a:ext cx="272125" cy="272125"/>
          </a:xfrm>
          <a:prstGeom prst="rect">
            <a:avLst/>
          </a:prstGeom>
        </p:spPr>
      </p:pic>
      <p:sp>
        <p:nvSpPr>
          <p:cNvPr id="18" name="Text 12"/>
          <p:cNvSpPr txBox="1"/>
          <p:nvPr/>
        </p:nvSpPr>
        <p:spPr>
          <a:xfrm>
            <a:off x="1298448" y="4864608"/>
            <a:ext cx="43891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b="1" dirty="0">
                <a:solidFill>
                  <a:schemeClr val="accent3"/>
                </a:solidFill>
              </a:rPr>
              <a:t>Personas distintas parecidas</a:t>
            </a:r>
            <a:endParaRPr lang="en-US" sz="1600" dirty="0"/>
          </a:p>
        </p:txBody>
      </p:sp>
      <p:sp>
        <p:nvSpPr>
          <p:cNvPr id="19" name="Text 13"/>
          <p:cNvSpPr txBox="1"/>
          <p:nvPr/>
        </p:nvSpPr>
        <p:spPr>
          <a:xfrm>
            <a:off x="1298448" y="5230368"/>
            <a:ext cx="4389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chemeClr val="tx1"/>
                </a:solidFill>
              </a:rPr>
              <a:t>Gemelos y homónimos: el riesgo es fusionarlos.</a:t>
            </a:r>
            <a:endParaRPr lang="en-US" sz="1400" dirty="0"/>
          </a:p>
        </p:txBody>
      </p:sp>
      <p:sp>
        <p:nvSpPr>
          <p:cNvPr id="20" name="Text 14"/>
          <p:cNvSpPr txBox="1"/>
          <p:nvPr/>
        </p:nvSpPr>
        <p:spPr>
          <a:xfrm>
            <a:off x="6172200" y="1280160"/>
            <a:ext cx="5486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000" b="1" dirty="0">
                <a:solidFill>
                  <a:schemeClr val="accent2"/>
                </a:solidFill>
              </a:rPr>
              <a:t>El resultado (3.325 registros sintéticos)</a:t>
            </a:r>
            <a:endParaRPr lang="en-US" sz="2000" dirty="0"/>
          </a:p>
        </p:txBody>
      </p:sp>
      <p:sp>
        <p:nvSpPr>
          <p:cNvPr id="21" name="tarjeta"/>
          <p:cNvSpPr/>
          <p:nvPr/>
        </p:nvSpPr>
        <p:spPr>
          <a:xfrm>
            <a:off x="6172200" y="1828800"/>
            <a:ext cx="2651760" cy="1920240"/>
          </a:xfrm>
          <a:prstGeom prst="roundRect">
            <a:avLst>
              <a:gd name="adj" fmla="val 5714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22" name="Text 16"/>
          <p:cNvSpPr txBox="1"/>
          <p:nvPr/>
        </p:nvSpPr>
        <p:spPr>
          <a:xfrm>
            <a:off x="6400800" y="1965960"/>
            <a:ext cx="22860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>
              <a:buNone/>
            </a:pPr>
            <a:r>
              <a:rPr lang="en-US" sz="4000" b="1" dirty="0">
                <a:solidFill>
                  <a:schemeClr val="accent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235/235</a:t>
            </a:r>
            <a:endParaRPr lang="en-US" sz="4000" dirty="0"/>
          </a:p>
        </p:txBody>
      </p:sp>
      <p:sp>
        <p:nvSpPr>
          <p:cNvPr id="23" name="Text 17"/>
          <p:cNvSpPr txBox="1"/>
          <p:nvPr/>
        </p:nvSpPr>
        <p:spPr>
          <a:xfrm>
            <a:off x="6400800" y="2852928"/>
            <a:ext cx="22402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chemeClr val="tx1"/>
                </a:solidFill>
              </a:rPr>
              <a:t>duplicados encontrados (precisión y recall 1,00)</a:t>
            </a:r>
            <a:endParaRPr lang="en-US" sz="1400" dirty="0"/>
          </a:p>
        </p:txBody>
      </p:sp>
      <p:sp>
        <p:nvSpPr>
          <p:cNvPr id="24" name="tarjeta"/>
          <p:cNvSpPr/>
          <p:nvPr/>
        </p:nvSpPr>
        <p:spPr>
          <a:xfrm>
            <a:off x="8961120" y="1828800"/>
            <a:ext cx="2651760" cy="1920240"/>
          </a:xfrm>
          <a:prstGeom prst="roundRect">
            <a:avLst>
              <a:gd name="adj" fmla="val 5714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25" name="Text 19"/>
          <p:cNvSpPr txBox="1"/>
          <p:nvPr/>
        </p:nvSpPr>
        <p:spPr>
          <a:xfrm>
            <a:off x="9189720" y="1965960"/>
            <a:ext cx="22860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>
              <a:buNone/>
            </a:pPr>
            <a:r>
              <a:rPr lang="en-US" sz="4000" b="1" dirty="0">
                <a:solidFill>
                  <a:schemeClr val="accent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</a:t>
            </a:r>
            <a:endParaRPr lang="en-US" sz="4000" dirty="0"/>
          </a:p>
        </p:txBody>
      </p:sp>
      <p:sp>
        <p:nvSpPr>
          <p:cNvPr id="26" name="Text 20"/>
          <p:cNvSpPr txBox="1"/>
          <p:nvPr/>
        </p:nvSpPr>
        <p:spPr>
          <a:xfrm>
            <a:off x="9189720" y="2852928"/>
            <a:ext cx="22402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chemeClr val="tx1"/>
                </a:solidFill>
              </a:rPr>
              <a:t>fusiones incorrectas, aun con gemelos y homónimos</a:t>
            </a:r>
            <a:endParaRPr lang="en-US" sz="1400" dirty="0"/>
          </a:p>
        </p:txBody>
      </p:sp>
      <p:sp>
        <p:nvSpPr>
          <p:cNvPr id="27" name="tarjeta"/>
          <p:cNvSpPr/>
          <p:nvPr/>
        </p:nvSpPr>
        <p:spPr>
          <a:xfrm>
            <a:off x="6172200" y="3931920"/>
            <a:ext cx="2651760" cy="1920240"/>
          </a:xfrm>
          <a:prstGeom prst="roundRect">
            <a:avLst>
              <a:gd name="adj" fmla="val 5714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28" name="Text 22"/>
          <p:cNvSpPr txBox="1"/>
          <p:nvPr/>
        </p:nvSpPr>
        <p:spPr>
          <a:xfrm>
            <a:off x="6400800" y="4069080"/>
            <a:ext cx="22860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>
              <a:buNone/>
            </a:pPr>
            <a:r>
              <a:rPr lang="en-US" sz="4000" b="1" dirty="0">
                <a:solidFill>
                  <a:schemeClr val="accent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110/110</a:t>
            </a:r>
            <a:endParaRPr lang="en-US" sz="4000" dirty="0"/>
          </a:p>
        </p:txBody>
      </p:sp>
      <p:sp>
        <p:nvSpPr>
          <p:cNvPr id="29" name="Text 23"/>
          <p:cNvSpPr txBox="1"/>
          <p:nvPr/>
        </p:nvSpPr>
        <p:spPr>
          <a:xfrm>
            <a:off x="6400800" y="4956048"/>
            <a:ext cx="22402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chemeClr val="tx1"/>
                </a:solidFill>
              </a:rPr>
              <a:t>aciertos del agente en los casos dudosos</a:t>
            </a:r>
            <a:endParaRPr lang="en-US" sz="1400" dirty="0"/>
          </a:p>
        </p:txBody>
      </p:sp>
      <p:sp>
        <p:nvSpPr>
          <p:cNvPr id="30" name="tarjeta"/>
          <p:cNvSpPr/>
          <p:nvPr/>
        </p:nvSpPr>
        <p:spPr>
          <a:xfrm>
            <a:off x="8961120" y="3931920"/>
            <a:ext cx="2651760" cy="1920240"/>
          </a:xfrm>
          <a:prstGeom prst="roundRect">
            <a:avLst>
              <a:gd name="adj" fmla="val 5714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31" name="Text 25"/>
          <p:cNvSpPr txBox="1"/>
          <p:nvPr/>
        </p:nvSpPr>
        <p:spPr>
          <a:xfrm>
            <a:off x="9189720" y="4069080"/>
            <a:ext cx="22860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>
              <a:buNone/>
            </a:pPr>
            <a:r>
              <a:rPr lang="en-US" sz="40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0,015</a:t>
            </a:r>
            <a:endParaRPr lang="en-US" sz="4000" dirty="0"/>
          </a:p>
        </p:txBody>
      </p:sp>
      <p:sp>
        <p:nvSpPr>
          <p:cNvPr id="32" name="Text 26"/>
          <p:cNvSpPr txBox="1"/>
          <p:nvPr/>
        </p:nvSpPr>
        <p:spPr>
          <a:xfrm>
            <a:off x="9189720" y="4956048"/>
            <a:ext cx="22402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chemeClr val="tx1"/>
                </a:solidFill>
              </a:rPr>
              <a:t>USD aprox. por ejecución del agente</a:t>
            </a:r>
            <a:endParaRPr lang="en-US" sz="1400" dirty="0"/>
          </a:p>
        </p:txBody>
      </p:sp>
      <p:sp>
        <p:nvSpPr>
          <p:cNvPr id="33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5855" y="635508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70128" y="365760"/>
            <a:ext cx="1109441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chemeClr val="tx2"/>
                </a:solidFill>
              </a:rPr>
              <a:t>n8n orquesta, Python calcula y el agente juzga</a:t>
            </a:r>
            <a:endParaRPr lang="en-US" sz="3000" dirty="0"/>
          </a:p>
        </p:txBody>
      </p:sp>
      <p:sp>
        <p:nvSpPr>
          <p:cNvPr id="3" name="caja"/>
          <p:cNvSpPr/>
          <p:nvPr/>
        </p:nvSpPr>
        <p:spPr>
          <a:xfrm>
            <a:off x="548640" y="1600200"/>
            <a:ext cx="1691640" cy="1051560"/>
          </a:xfrm>
          <a:prstGeom prst="roundRect">
            <a:avLst>
              <a:gd name="adj" fmla="val 8696"/>
            </a:avLst>
          </a:prstGeom>
          <a:solidFill>
            <a:schemeClr val="accent5"/>
          </a:solidFill>
          <a:ln w="12700">
            <a:solidFill>
              <a:schemeClr val="accent5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4" name="Text 2"/>
          <p:cNvSpPr txBox="1"/>
          <p:nvPr/>
        </p:nvSpPr>
        <p:spPr>
          <a:xfrm>
            <a:off x="626364" y="1600200"/>
            <a:ext cx="150876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spcAft>
                <a:spcPts val="200"/>
              </a:spcAft>
              <a:buNone/>
            </a:pPr>
            <a:r>
              <a:rPr lang="en-US" sz="1400" b="1" dirty="0">
                <a:solidFill>
                  <a:schemeClr val="bg1"/>
                </a:solidFill>
              </a:rPr>
              <a:t>Disparador</a:t>
            </a:r>
            <a:endParaRPr lang="en-US" sz="1400" dirty="0"/>
          </a:p>
          <a:p>
            <a:pPr marL="0" indent="0" algn="ctr">
              <a:spcAft>
                <a:spcPts val="200"/>
              </a:spcAft>
              <a:buNone/>
            </a:pPr>
            <a:r>
              <a:rPr lang="en-US" sz="1100" dirty="0" err="1">
                <a:solidFill>
                  <a:schemeClr val="bg1"/>
                </a:solidFill>
              </a:rPr>
              <a:t>Cada</a:t>
            </a:r>
            <a:r>
              <a:rPr lang="en-US" sz="1100" dirty="0">
                <a:solidFill>
                  <a:schemeClr val="bg1"/>
                </a:solidFill>
              </a:rPr>
              <a:t> día</a:t>
            </a:r>
            <a:endParaRPr lang="en-US" sz="1400" dirty="0"/>
          </a:p>
        </p:txBody>
      </p:sp>
      <p:sp>
        <p:nvSpPr>
          <p:cNvPr id="5" name="flecha"/>
          <p:cNvSpPr/>
          <p:nvPr/>
        </p:nvSpPr>
        <p:spPr>
          <a:xfrm>
            <a:off x="2258568" y="2125980"/>
            <a:ext cx="210312" cy="914"/>
          </a:xfrm>
          <a:prstGeom prst="line">
            <a:avLst/>
          </a:prstGeom>
          <a:noFill/>
          <a:ln w="25400">
            <a:solidFill>
              <a:srgbClr val="5E6B7D"/>
            </a:solidFill>
            <a:prstDash val="solid"/>
            <a:tailEnd type="triangle"/>
          </a:ln>
        </p:spPr>
        <p:txBody>
          <a:bodyPr/>
          <a:lstStyle/>
          <a:p>
            <a:endParaRPr lang="es-CO"/>
          </a:p>
        </p:txBody>
      </p:sp>
      <p:sp>
        <p:nvSpPr>
          <p:cNvPr id="6" name="caja"/>
          <p:cNvSpPr/>
          <p:nvPr/>
        </p:nvSpPr>
        <p:spPr>
          <a:xfrm>
            <a:off x="2487168" y="1600200"/>
            <a:ext cx="1691640" cy="1051560"/>
          </a:xfrm>
          <a:prstGeom prst="roundRect">
            <a:avLst>
              <a:gd name="adj" fmla="val 8696"/>
            </a:avLst>
          </a:prstGeom>
          <a:solidFill>
            <a:schemeClr val="accent5"/>
          </a:solidFill>
          <a:ln w="12700">
            <a:solidFill>
              <a:schemeClr val="accent5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7" name="Text 5"/>
          <p:cNvSpPr txBox="1"/>
          <p:nvPr/>
        </p:nvSpPr>
        <p:spPr>
          <a:xfrm>
            <a:off x="2578608" y="1600200"/>
            <a:ext cx="150876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spcAft>
                <a:spcPts val="200"/>
              </a:spcAft>
              <a:buNone/>
            </a:pPr>
            <a:r>
              <a:rPr lang="en-US" sz="1400" b="1" dirty="0">
                <a:solidFill>
                  <a:schemeClr val="bg1"/>
                </a:solidFill>
              </a:rPr>
              <a:t>control.xlsx</a:t>
            </a:r>
            <a:endParaRPr lang="en-US" sz="1400" dirty="0"/>
          </a:p>
          <a:p>
            <a:pPr marL="0" indent="0" algn="ctr">
              <a:spcAft>
                <a:spcPts val="200"/>
              </a:spcAft>
              <a:buNone/>
            </a:pPr>
            <a:r>
              <a:rPr lang="en-US" sz="1100" dirty="0">
                <a:solidFill>
                  <a:schemeClr val="bg1"/>
                </a:solidFill>
              </a:rPr>
              <a:t>¿estado PENDIENTE?</a:t>
            </a:r>
            <a:endParaRPr lang="en-US" sz="1400" dirty="0"/>
          </a:p>
        </p:txBody>
      </p:sp>
      <p:sp>
        <p:nvSpPr>
          <p:cNvPr id="8" name="flecha"/>
          <p:cNvSpPr/>
          <p:nvPr/>
        </p:nvSpPr>
        <p:spPr>
          <a:xfrm>
            <a:off x="4197096" y="2125980"/>
            <a:ext cx="210312" cy="914"/>
          </a:xfrm>
          <a:prstGeom prst="line">
            <a:avLst/>
          </a:prstGeom>
          <a:noFill/>
          <a:ln w="25400">
            <a:solidFill>
              <a:srgbClr val="5E6B7D"/>
            </a:solidFill>
            <a:prstDash val="solid"/>
            <a:tailEnd type="triangle"/>
          </a:ln>
        </p:spPr>
        <p:txBody>
          <a:bodyPr/>
          <a:lstStyle/>
          <a:p>
            <a:endParaRPr lang="es-CO"/>
          </a:p>
        </p:txBody>
      </p:sp>
      <p:sp>
        <p:nvSpPr>
          <p:cNvPr id="9" name="caja"/>
          <p:cNvSpPr/>
          <p:nvPr/>
        </p:nvSpPr>
        <p:spPr>
          <a:xfrm>
            <a:off x="4425696" y="1600200"/>
            <a:ext cx="1691640" cy="1051560"/>
          </a:xfrm>
          <a:prstGeom prst="roundRect">
            <a:avLst>
              <a:gd name="adj" fmla="val 8696"/>
            </a:avLst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10" name="Text 8"/>
          <p:cNvSpPr txBox="1"/>
          <p:nvPr/>
        </p:nvSpPr>
        <p:spPr>
          <a:xfrm>
            <a:off x="4517136" y="1600200"/>
            <a:ext cx="150876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spcAft>
                <a:spcPts val="200"/>
              </a:spcAft>
              <a:buNone/>
            </a:pPr>
            <a:r>
              <a:rPr lang="en-US" sz="1400" b="1" dirty="0">
                <a:solidFill>
                  <a:schemeClr val="bg1"/>
                </a:solidFill>
              </a:rPr>
              <a:t>dedup.py</a:t>
            </a:r>
            <a:endParaRPr lang="en-US" sz="1400" dirty="0"/>
          </a:p>
          <a:p>
            <a:pPr marL="0" indent="0" algn="ctr">
              <a:spcAft>
                <a:spcPts val="200"/>
              </a:spcAft>
              <a:buNone/>
            </a:pPr>
            <a:r>
              <a:rPr lang="en-US" sz="1100" dirty="0">
                <a:solidFill>
                  <a:schemeClr val="bg1"/>
                </a:solidFill>
              </a:rPr>
              <a:t>modelo de reglas</a:t>
            </a:r>
            <a:endParaRPr lang="en-US" sz="1400" dirty="0"/>
          </a:p>
        </p:txBody>
      </p:sp>
      <p:sp>
        <p:nvSpPr>
          <p:cNvPr id="11" name="flecha"/>
          <p:cNvSpPr/>
          <p:nvPr/>
        </p:nvSpPr>
        <p:spPr>
          <a:xfrm>
            <a:off x="6135624" y="2125980"/>
            <a:ext cx="210312" cy="914"/>
          </a:xfrm>
          <a:prstGeom prst="line">
            <a:avLst/>
          </a:prstGeom>
          <a:noFill/>
          <a:ln w="25400">
            <a:solidFill>
              <a:srgbClr val="5E6B7D"/>
            </a:solidFill>
            <a:prstDash val="solid"/>
            <a:tailEnd type="triangle"/>
          </a:ln>
        </p:spPr>
        <p:txBody>
          <a:bodyPr/>
          <a:lstStyle/>
          <a:p>
            <a:endParaRPr lang="es-CO"/>
          </a:p>
        </p:txBody>
      </p:sp>
      <p:sp>
        <p:nvSpPr>
          <p:cNvPr id="12" name="caja"/>
          <p:cNvSpPr/>
          <p:nvPr/>
        </p:nvSpPr>
        <p:spPr>
          <a:xfrm>
            <a:off x="6364224" y="1600200"/>
            <a:ext cx="1691640" cy="1051560"/>
          </a:xfrm>
          <a:prstGeom prst="roundRect">
            <a:avLst>
              <a:gd name="adj" fmla="val 8696"/>
            </a:avLst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13" name="Text 11"/>
          <p:cNvSpPr txBox="1"/>
          <p:nvPr/>
        </p:nvSpPr>
        <p:spPr>
          <a:xfrm>
            <a:off x="6455664" y="1600200"/>
            <a:ext cx="150876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spcAft>
                <a:spcPts val="200"/>
              </a:spcAft>
              <a:buNone/>
            </a:pPr>
            <a:r>
              <a:rPr lang="en-US" sz="1400" b="1" dirty="0">
                <a:solidFill>
                  <a:schemeClr val="bg1"/>
                </a:solidFill>
              </a:rPr>
              <a:t>Zona gris</a:t>
            </a:r>
            <a:endParaRPr lang="en-US" sz="1400" dirty="0"/>
          </a:p>
          <a:p>
            <a:pPr marL="0" indent="0" algn="ctr">
              <a:spcAft>
                <a:spcPts val="200"/>
              </a:spcAft>
              <a:buNone/>
            </a:pPr>
            <a:r>
              <a:rPr lang="en-US" sz="1100" dirty="0">
                <a:solidFill>
                  <a:schemeClr val="bg1"/>
                </a:solidFill>
              </a:rPr>
              <a:t>pares dudosos en lotes de 10</a:t>
            </a:r>
            <a:endParaRPr lang="en-US" sz="1400" dirty="0"/>
          </a:p>
        </p:txBody>
      </p:sp>
      <p:sp>
        <p:nvSpPr>
          <p:cNvPr id="14" name="flecha"/>
          <p:cNvSpPr/>
          <p:nvPr/>
        </p:nvSpPr>
        <p:spPr>
          <a:xfrm>
            <a:off x="8074152" y="2125980"/>
            <a:ext cx="210312" cy="914"/>
          </a:xfrm>
          <a:prstGeom prst="line">
            <a:avLst/>
          </a:prstGeom>
          <a:noFill/>
          <a:ln w="25400">
            <a:solidFill>
              <a:srgbClr val="5E6B7D"/>
            </a:solidFill>
            <a:prstDash val="solid"/>
            <a:tailEnd type="triangle"/>
          </a:ln>
        </p:spPr>
        <p:txBody>
          <a:bodyPr/>
          <a:lstStyle/>
          <a:p>
            <a:endParaRPr lang="es-CO"/>
          </a:p>
        </p:txBody>
      </p:sp>
      <p:sp>
        <p:nvSpPr>
          <p:cNvPr id="15" name="caja"/>
          <p:cNvSpPr/>
          <p:nvPr/>
        </p:nvSpPr>
        <p:spPr>
          <a:xfrm>
            <a:off x="8302752" y="1600200"/>
            <a:ext cx="1691640" cy="1051560"/>
          </a:xfrm>
          <a:prstGeom prst="roundRect">
            <a:avLst>
              <a:gd name="adj" fmla="val 8696"/>
            </a:avLst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16" name="Text 14"/>
          <p:cNvSpPr txBox="1"/>
          <p:nvPr/>
        </p:nvSpPr>
        <p:spPr>
          <a:xfrm>
            <a:off x="8394192" y="1600200"/>
            <a:ext cx="150876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spcAft>
                <a:spcPts val="200"/>
              </a:spcAft>
              <a:buNone/>
            </a:pPr>
            <a:r>
              <a:rPr lang="en-US" sz="1400" b="1" dirty="0">
                <a:solidFill>
                  <a:schemeClr val="bg1"/>
                </a:solidFill>
              </a:rPr>
              <a:t>Agente juez</a:t>
            </a:r>
            <a:endParaRPr lang="en-US" sz="1400" dirty="0"/>
          </a:p>
          <a:p>
            <a:pPr marL="0" indent="0" algn="ctr">
              <a:spcAft>
                <a:spcPts val="200"/>
              </a:spcAft>
              <a:buNone/>
            </a:pPr>
            <a:r>
              <a:rPr lang="en-US" sz="1100" dirty="0">
                <a:solidFill>
                  <a:schemeClr val="bg1"/>
                </a:solidFill>
              </a:rPr>
              <a:t>Claude Haiku 5.5</a:t>
            </a:r>
            <a:endParaRPr lang="en-US" sz="1400" dirty="0"/>
          </a:p>
        </p:txBody>
      </p:sp>
      <p:sp>
        <p:nvSpPr>
          <p:cNvPr id="17" name="flecha"/>
          <p:cNvSpPr/>
          <p:nvPr/>
        </p:nvSpPr>
        <p:spPr>
          <a:xfrm>
            <a:off x="10012680" y="2125980"/>
            <a:ext cx="210312" cy="914"/>
          </a:xfrm>
          <a:prstGeom prst="line">
            <a:avLst/>
          </a:prstGeom>
          <a:noFill/>
          <a:ln w="25400">
            <a:solidFill>
              <a:srgbClr val="5E6B7D"/>
            </a:solidFill>
            <a:prstDash val="solid"/>
            <a:tailEnd type="triangle"/>
          </a:ln>
        </p:spPr>
        <p:txBody>
          <a:bodyPr/>
          <a:lstStyle/>
          <a:p>
            <a:endParaRPr lang="es-CO"/>
          </a:p>
        </p:txBody>
      </p:sp>
      <p:sp>
        <p:nvSpPr>
          <p:cNvPr id="18" name="caja"/>
          <p:cNvSpPr/>
          <p:nvPr/>
        </p:nvSpPr>
        <p:spPr>
          <a:xfrm>
            <a:off x="10241280" y="1600200"/>
            <a:ext cx="1691640" cy="1051560"/>
          </a:xfrm>
          <a:prstGeom prst="roundRect">
            <a:avLst>
              <a:gd name="adj" fmla="val 8696"/>
            </a:avLst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19" name="Text 17"/>
          <p:cNvSpPr txBox="1"/>
          <p:nvPr/>
        </p:nvSpPr>
        <p:spPr>
          <a:xfrm>
            <a:off x="10332720" y="1600200"/>
            <a:ext cx="150876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spcAft>
                <a:spcPts val="200"/>
              </a:spcAft>
              <a:buNone/>
            </a:pPr>
            <a:r>
              <a:rPr lang="en-US" sz="1400" b="1" dirty="0">
                <a:solidFill>
                  <a:schemeClr val="bg1"/>
                </a:solidFill>
              </a:rPr>
              <a:t>Aplicar decisiones</a:t>
            </a:r>
            <a:endParaRPr lang="en-US" sz="1400" dirty="0"/>
          </a:p>
          <a:p>
            <a:pPr marL="0" indent="0" algn="ctr">
              <a:spcAft>
                <a:spcPts val="200"/>
              </a:spcAft>
              <a:buNone/>
            </a:pPr>
            <a:r>
              <a:rPr lang="en-US" sz="1100" dirty="0">
                <a:solidFill>
                  <a:schemeClr val="bg1"/>
                </a:solidFill>
              </a:rPr>
              <a:t>valida y fusiona</a:t>
            </a:r>
            <a:endParaRPr lang="en-US" sz="1400" dirty="0"/>
          </a:p>
        </p:txBody>
      </p:sp>
      <p:sp>
        <p:nvSpPr>
          <p:cNvPr id="20" name="caja"/>
          <p:cNvSpPr/>
          <p:nvPr/>
        </p:nvSpPr>
        <p:spPr>
          <a:xfrm>
            <a:off x="4425696" y="3337560"/>
            <a:ext cx="1691640" cy="868680"/>
          </a:xfrm>
          <a:prstGeom prst="roundRect">
            <a:avLst>
              <a:gd name="adj" fmla="val 10526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21" name="Text 19"/>
          <p:cNvSpPr txBox="1"/>
          <p:nvPr/>
        </p:nvSpPr>
        <p:spPr>
          <a:xfrm>
            <a:off x="4517136" y="3337560"/>
            <a:ext cx="15087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spcAft>
                <a:spcPts val="200"/>
              </a:spcAft>
              <a:buNone/>
            </a:pPr>
            <a:r>
              <a:rPr lang="en-US" sz="1300" b="1" dirty="0">
                <a:solidFill>
                  <a:schemeClr val="tx2"/>
                </a:solidFill>
              </a:rPr>
              <a:t>Fusión automática</a:t>
            </a:r>
            <a:endParaRPr lang="en-US" sz="1300" dirty="0"/>
          </a:p>
          <a:p>
            <a:pPr marL="0" indent="0" algn="ctr">
              <a:spcAft>
                <a:spcPts val="200"/>
              </a:spcAft>
              <a:buNone/>
            </a:pPr>
            <a:r>
              <a:rPr lang="en-US" sz="1100" dirty="0">
                <a:solidFill>
                  <a:schemeClr val="tx2"/>
                </a:solidFill>
              </a:rPr>
              <a:t>score ≥ 0,85</a:t>
            </a:r>
            <a:endParaRPr lang="en-US" sz="1300" dirty="0"/>
          </a:p>
        </p:txBody>
      </p:sp>
      <p:sp>
        <p:nvSpPr>
          <p:cNvPr id="22" name="flecha"/>
          <p:cNvSpPr/>
          <p:nvPr/>
        </p:nvSpPr>
        <p:spPr>
          <a:xfrm>
            <a:off x="5271516" y="2670048"/>
            <a:ext cx="914" cy="649224"/>
          </a:xfrm>
          <a:prstGeom prst="line">
            <a:avLst/>
          </a:prstGeom>
          <a:noFill/>
          <a:ln w="25400">
            <a:solidFill>
              <a:srgbClr val="5E6B7D"/>
            </a:solidFill>
            <a:prstDash val="solid"/>
            <a:tailEnd type="triangle"/>
          </a:ln>
        </p:spPr>
        <p:txBody>
          <a:bodyPr/>
          <a:lstStyle/>
          <a:p>
            <a:endParaRPr lang="es-CO"/>
          </a:p>
        </p:txBody>
      </p:sp>
      <p:sp>
        <p:nvSpPr>
          <p:cNvPr id="23" name="caja"/>
          <p:cNvSpPr/>
          <p:nvPr/>
        </p:nvSpPr>
        <p:spPr>
          <a:xfrm>
            <a:off x="8302752" y="3337560"/>
            <a:ext cx="1691640" cy="868680"/>
          </a:xfrm>
          <a:prstGeom prst="roundRect">
            <a:avLst>
              <a:gd name="adj" fmla="val 10526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24" name="Text 22"/>
          <p:cNvSpPr txBox="1"/>
          <p:nvPr/>
        </p:nvSpPr>
        <p:spPr>
          <a:xfrm>
            <a:off x="8394192" y="3337560"/>
            <a:ext cx="15087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spcAft>
                <a:spcPts val="200"/>
              </a:spcAft>
              <a:buNone/>
            </a:pPr>
            <a:r>
              <a:rPr lang="en-US" sz="1300" b="1" dirty="0">
                <a:solidFill>
                  <a:schemeClr val="tx2"/>
                </a:solidFill>
              </a:rPr>
              <a:t>2.º intento</a:t>
            </a:r>
            <a:endParaRPr lang="en-US" sz="1300" dirty="0"/>
          </a:p>
          <a:p>
            <a:pPr marL="0" indent="0" algn="ctr">
              <a:spcAft>
                <a:spcPts val="200"/>
              </a:spcAft>
              <a:buNone/>
            </a:pPr>
            <a:r>
              <a:rPr lang="en-US" sz="1100" dirty="0">
                <a:solidFill>
                  <a:schemeClr val="tx2"/>
                </a:solidFill>
              </a:rPr>
              <a:t>pares sin respuesta</a:t>
            </a:r>
            <a:endParaRPr lang="en-US" sz="1300" dirty="0"/>
          </a:p>
        </p:txBody>
      </p:sp>
      <p:sp>
        <p:nvSpPr>
          <p:cNvPr id="25" name="flecha"/>
          <p:cNvSpPr/>
          <p:nvPr/>
        </p:nvSpPr>
        <p:spPr>
          <a:xfrm>
            <a:off x="9148572" y="2670048"/>
            <a:ext cx="914" cy="649224"/>
          </a:xfrm>
          <a:prstGeom prst="line">
            <a:avLst/>
          </a:prstGeom>
          <a:noFill/>
          <a:ln w="25400">
            <a:solidFill>
              <a:srgbClr val="E39B2D"/>
            </a:solidFill>
            <a:prstDash val="solid"/>
            <a:tailEnd type="triangle"/>
          </a:ln>
        </p:spPr>
        <p:txBody>
          <a:bodyPr/>
          <a:lstStyle/>
          <a:p>
            <a:endParaRPr lang="es-CO"/>
          </a:p>
        </p:txBody>
      </p:sp>
      <p:sp>
        <p:nvSpPr>
          <p:cNvPr id="26" name="caja"/>
          <p:cNvSpPr/>
          <p:nvPr/>
        </p:nvSpPr>
        <p:spPr>
          <a:xfrm>
            <a:off x="9555480" y="4617720"/>
            <a:ext cx="2377440" cy="960120"/>
          </a:xfrm>
          <a:prstGeom prst="roundRect">
            <a:avLst>
              <a:gd name="adj" fmla="val 9524"/>
            </a:avLst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27" name="Text 25"/>
          <p:cNvSpPr txBox="1"/>
          <p:nvPr/>
        </p:nvSpPr>
        <p:spPr>
          <a:xfrm>
            <a:off x="9646920" y="4617720"/>
            <a:ext cx="219456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spcAft>
                <a:spcPts val="200"/>
              </a:spcAft>
              <a:buNone/>
            </a:pPr>
            <a:r>
              <a:rPr lang="en-US" sz="1400" b="1" dirty="0">
                <a:solidFill>
                  <a:schemeClr val="bg1"/>
                </a:solidFill>
              </a:rPr>
              <a:t>Revisión humana</a:t>
            </a:r>
            <a:endParaRPr lang="en-US" sz="1400" dirty="0"/>
          </a:p>
          <a:p>
            <a:pPr marL="0" indent="0" algn="ctr">
              <a:spcAft>
                <a:spcPts val="200"/>
              </a:spcAft>
              <a:buNone/>
            </a:pPr>
            <a:r>
              <a:rPr lang="en-US" sz="1100" dirty="0">
                <a:solidFill>
                  <a:schemeClr val="bg1"/>
                </a:solidFill>
              </a:rPr>
              <a:t>INCIERTO o confianza &lt; 0,8</a:t>
            </a:r>
            <a:endParaRPr lang="en-US" sz="1400" dirty="0"/>
          </a:p>
        </p:txBody>
      </p:sp>
      <p:sp>
        <p:nvSpPr>
          <p:cNvPr id="28" name="caja"/>
          <p:cNvSpPr/>
          <p:nvPr/>
        </p:nvSpPr>
        <p:spPr>
          <a:xfrm>
            <a:off x="6453835" y="4617720"/>
            <a:ext cx="2377440" cy="960120"/>
          </a:xfrm>
          <a:prstGeom prst="roundRect">
            <a:avLst>
              <a:gd name="adj" fmla="val 9524"/>
            </a:avLst>
          </a:prstGeom>
          <a:solidFill>
            <a:schemeClr val="accent5"/>
          </a:solidFill>
          <a:ln w="12700">
            <a:solidFill>
              <a:schemeClr val="accent5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29" name="Text 27"/>
          <p:cNvSpPr txBox="1"/>
          <p:nvPr/>
        </p:nvSpPr>
        <p:spPr>
          <a:xfrm>
            <a:off x="6545275" y="4617720"/>
            <a:ext cx="219456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spcAft>
                <a:spcPts val="200"/>
              </a:spcAft>
              <a:buNone/>
            </a:pPr>
            <a:r>
              <a:rPr lang="en-US" sz="1400" b="1" dirty="0">
                <a:solidFill>
                  <a:schemeClr val="bg1"/>
                </a:solidFill>
              </a:rPr>
              <a:t>Tabla maestra + logs</a:t>
            </a:r>
            <a:endParaRPr lang="en-US" sz="1400" dirty="0"/>
          </a:p>
          <a:p>
            <a:pPr marL="0" indent="0" algn="ctr">
              <a:spcAft>
                <a:spcPts val="200"/>
              </a:spcAft>
              <a:buNone/>
            </a:pPr>
            <a:r>
              <a:rPr lang="en-US" sz="1100" dirty="0">
                <a:solidFill>
                  <a:schemeClr val="bg1"/>
                </a:solidFill>
              </a:rPr>
              <a:t>clientes, log_ejecuciones, log_fusiones</a:t>
            </a:r>
            <a:endParaRPr lang="en-US" sz="1400" dirty="0"/>
          </a:p>
        </p:txBody>
      </p:sp>
      <p:sp>
        <p:nvSpPr>
          <p:cNvPr id="30" name="caja"/>
          <p:cNvSpPr/>
          <p:nvPr/>
        </p:nvSpPr>
        <p:spPr>
          <a:xfrm>
            <a:off x="3352190" y="4617720"/>
            <a:ext cx="2377440" cy="960120"/>
          </a:xfrm>
          <a:prstGeom prst="roundRect">
            <a:avLst>
              <a:gd name="adj" fmla="val 9524"/>
            </a:avLst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31" name="Text 29"/>
          <p:cNvSpPr txBox="1"/>
          <p:nvPr/>
        </p:nvSpPr>
        <p:spPr>
          <a:xfrm>
            <a:off x="3443630" y="4617720"/>
            <a:ext cx="219456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spcAft>
                <a:spcPts val="200"/>
              </a:spcAft>
              <a:buNone/>
            </a:pPr>
            <a:r>
              <a:rPr lang="en-US" sz="1400" b="1" dirty="0">
                <a:solidFill>
                  <a:schemeClr val="bg1"/>
                </a:solidFill>
              </a:rPr>
              <a:t>Agente redactor</a:t>
            </a:r>
            <a:endParaRPr lang="en-US" sz="1400" dirty="0"/>
          </a:p>
          <a:p>
            <a:pPr marL="0" indent="0" algn="ctr">
              <a:spcAft>
                <a:spcPts val="200"/>
              </a:spcAft>
              <a:buNone/>
            </a:pPr>
            <a:r>
              <a:rPr lang="en-US" sz="1100" dirty="0">
                <a:solidFill>
                  <a:schemeClr val="bg1"/>
                </a:solidFill>
              </a:rPr>
              <a:t>informe ejecutivo .md</a:t>
            </a:r>
            <a:endParaRPr lang="en-US" sz="1400" dirty="0"/>
          </a:p>
        </p:txBody>
      </p:sp>
      <p:sp>
        <p:nvSpPr>
          <p:cNvPr id="32" name="flecha"/>
          <p:cNvSpPr/>
          <p:nvPr/>
        </p:nvSpPr>
        <p:spPr>
          <a:xfrm>
            <a:off x="11361420" y="2670048"/>
            <a:ext cx="914" cy="1929384"/>
          </a:xfrm>
          <a:prstGeom prst="line">
            <a:avLst/>
          </a:prstGeom>
          <a:noFill/>
          <a:ln w="25400">
            <a:solidFill>
              <a:srgbClr val="C4553A"/>
            </a:solidFill>
            <a:prstDash val="solid"/>
            <a:tailEnd type="triangle"/>
          </a:ln>
        </p:spPr>
        <p:txBody>
          <a:bodyPr/>
          <a:lstStyle/>
          <a:p>
            <a:endParaRPr lang="es-CO"/>
          </a:p>
        </p:txBody>
      </p:sp>
      <p:sp>
        <p:nvSpPr>
          <p:cNvPr id="33" name="flecha"/>
          <p:cNvSpPr/>
          <p:nvPr/>
        </p:nvSpPr>
        <p:spPr>
          <a:xfrm flipH="1">
            <a:off x="8849563" y="5093208"/>
            <a:ext cx="687629" cy="914"/>
          </a:xfrm>
          <a:prstGeom prst="line">
            <a:avLst/>
          </a:prstGeom>
          <a:noFill/>
          <a:ln w="25400">
            <a:solidFill>
              <a:srgbClr val="5E6B7D"/>
            </a:solidFill>
            <a:prstDash val="solid"/>
            <a:tailEnd type="triangle"/>
          </a:ln>
        </p:spPr>
        <p:txBody>
          <a:bodyPr/>
          <a:lstStyle/>
          <a:p>
            <a:endParaRPr lang="es-CO"/>
          </a:p>
        </p:txBody>
      </p:sp>
      <p:sp>
        <p:nvSpPr>
          <p:cNvPr id="34" name="flecha"/>
          <p:cNvSpPr/>
          <p:nvPr/>
        </p:nvSpPr>
        <p:spPr>
          <a:xfrm flipH="1">
            <a:off x="5747918" y="5093208"/>
            <a:ext cx="687629" cy="914"/>
          </a:xfrm>
          <a:prstGeom prst="line">
            <a:avLst/>
          </a:prstGeom>
          <a:noFill/>
          <a:ln w="25400">
            <a:solidFill>
              <a:srgbClr val="5E6B7D"/>
            </a:solidFill>
            <a:prstDash val="solid"/>
            <a:tailEnd type="triangle"/>
          </a:ln>
        </p:spPr>
        <p:txBody>
          <a:bodyPr/>
          <a:lstStyle/>
          <a:p>
            <a:endParaRPr lang="es-CO"/>
          </a:p>
        </p:txBody>
      </p:sp>
      <p:sp>
        <p:nvSpPr>
          <p:cNvPr id="35" name="flecha"/>
          <p:cNvSpPr/>
          <p:nvPr/>
        </p:nvSpPr>
        <p:spPr>
          <a:xfrm>
            <a:off x="5271516" y="4224528"/>
            <a:ext cx="914" cy="374904"/>
          </a:xfrm>
          <a:prstGeom prst="line">
            <a:avLst/>
          </a:prstGeom>
          <a:noFill/>
          <a:ln w="25400">
            <a:solidFill>
              <a:srgbClr val="5E6B7D"/>
            </a:solidFill>
            <a:prstDash val="solid"/>
            <a:tailEnd type="triangle"/>
          </a:ln>
        </p:spPr>
        <p:txBody>
          <a:bodyPr/>
          <a:lstStyle/>
          <a:p>
            <a:endParaRPr lang="es-CO"/>
          </a:p>
        </p:txBody>
      </p:sp>
      <p:sp>
        <p:nvSpPr>
          <p:cNvPr id="36" name="Shape 34"/>
          <p:cNvSpPr/>
          <p:nvPr/>
        </p:nvSpPr>
        <p:spPr>
          <a:xfrm>
            <a:off x="548640" y="5870448"/>
            <a:ext cx="201168" cy="201168"/>
          </a:xfrm>
          <a:prstGeom prst="ellipse">
            <a:avLst/>
          </a:prstGeom>
          <a:solidFill>
            <a:schemeClr val="accent5"/>
          </a:solidFill>
          <a:ln w="12700">
            <a:solidFill>
              <a:schemeClr val="accent5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37" name="Text 35"/>
          <p:cNvSpPr txBox="1"/>
          <p:nvPr/>
        </p:nvSpPr>
        <p:spPr>
          <a:xfrm>
            <a:off x="841248" y="5806440"/>
            <a:ext cx="16459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chemeClr val="tx1"/>
                </a:solidFill>
              </a:rPr>
              <a:t>n8n / datos</a:t>
            </a:r>
            <a:endParaRPr lang="en-US" sz="1200" dirty="0"/>
          </a:p>
        </p:txBody>
      </p:sp>
      <p:sp>
        <p:nvSpPr>
          <p:cNvPr id="38" name="Shape 36"/>
          <p:cNvSpPr/>
          <p:nvPr/>
        </p:nvSpPr>
        <p:spPr>
          <a:xfrm>
            <a:off x="2560320" y="5870448"/>
            <a:ext cx="201168" cy="201168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39" name="Text 37"/>
          <p:cNvSpPr txBox="1"/>
          <p:nvPr/>
        </p:nvSpPr>
        <p:spPr>
          <a:xfrm>
            <a:off x="2852928" y="5806440"/>
            <a:ext cx="16459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chemeClr val="tx1"/>
                </a:solidFill>
              </a:rPr>
              <a:t>Python</a:t>
            </a:r>
            <a:endParaRPr lang="en-US" sz="1200" dirty="0"/>
          </a:p>
        </p:txBody>
      </p:sp>
      <p:sp>
        <p:nvSpPr>
          <p:cNvPr id="40" name="Shape 38"/>
          <p:cNvSpPr/>
          <p:nvPr/>
        </p:nvSpPr>
        <p:spPr>
          <a:xfrm>
            <a:off x="4572000" y="5870448"/>
            <a:ext cx="201168" cy="201168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41" name="Text 39"/>
          <p:cNvSpPr txBox="1"/>
          <p:nvPr/>
        </p:nvSpPr>
        <p:spPr>
          <a:xfrm>
            <a:off x="4864608" y="5806440"/>
            <a:ext cx="16459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chemeClr val="tx1"/>
                </a:solidFill>
              </a:rPr>
              <a:t>Agente (LLM)</a:t>
            </a:r>
            <a:endParaRPr lang="en-US" sz="1200" dirty="0"/>
          </a:p>
        </p:txBody>
      </p:sp>
      <p:sp>
        <p:nvSpPr>
          <p:cNvPr id="42" name="Shape 40"/>
          <p:cNvSpPr/>
          <p:nvPr/>
        </p:nvSpPr>
        <p:spPr>
          <a:xfrm>
            <a:off x="6583680" y="5870448"/>
            <a:ext cx="201168" cy="201168"/>
          </a:xfrm>
          <a:prstGeom prst="ellipse">
            <a:avLst/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43" name="Text 41"/>
          <p:cNvSpPr txBox="1"/>
          <p:nvPr/>
        </p:nvSpPr>
        <p:spPr>
          <a:xfrm>
            <a:off x="6876288" y="5806440"/>
            <a:ext cx="16459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chemeClr val="tx1"/>
                </a:solidFill>
              </a:rPr>
              <a:t>Persona</a:t>
            </a:r>
            <a:endParaRPr lang="en-US" sz="1200" dirty="0"/>
          </a:p>
        </p:txBody>
      </p:sp>
      <p:sp>
        <p:nvSpPr>
          <p:cNvPr id="44" name="Text 42"/>
          <p:cNvSpPr txBox="1"/>
          <p:nvPr/>
        </p:nvSpPr>
        <p:spPr>
          <a:xfrm>
            <a:off x="8412480" y="5760720"/>
            <a:ext cx="3246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chemeClr val="accent5"/>
                </a:solidFill>
              </a:rPr>
              <a:t>Si algo falla, un flujo de errores marca el control como ERROR y guarda el mensaje.</a:t>
            </a:r>
            <a:endParaRPr lang="en-US" sz="1100" dirty="0"/>
          </a:p>
        </p:txBody>
      </p:sp>
      <p:sp>
        <p:nvSpPr>
          <p:cNvPr id="4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5855" y="635508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320040"/>
            <a:ext cx="1109441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chemeClr val="tx2"/>
                </a:solidFill>
              </a:rPr>
              <a:t>El motor de reglas filtra y resuelve los casos claros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1188720" y="1280160"/>
            <a:ext cx="457200" cy="45720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4" name="Text 2"/>
          <p:cNvSpPr txBox="1"/>
          <p:nvPr/>
        </p:nvSpPr>
        <p:spPr>
          <a:xfrm>
            <a:off x="1188720" y="12801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chemeClr val="bg1"/>
                </a:solidFill>
              </a:rPr>
              <a:t>1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1691640" y="1508760"/>
            <a:ext cx="1371600" cy="0"/>
          </a:xfrm>
          <a:prstGeom prst="line">
            <a:avLst/>
          </a:prstGeom>
          <a:noFill/>
          <a:ln w="19050">
            <a:solidFill>
              <a:srgbClr val="9DC3D1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6" name="Text 4"/>
          <p:cNvSpPr txBox="1"/>
          <p:nvPr/>
        </p:nvSpPr>
        <p:spPr>
          <a:xfrm>
            <a:off x="548640" y="1828800"/>
            <a:ext cx="1737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500" b="1" dirty="0">
                <a:solidFill>
                  <a:schemeClr val="tx2"/>
                </a:solidFill>
              </a:rPr>
              <a:t>Normalización</a:t>
            </a:r>
            <a:endParaRPr lang="en-US" sz="150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2212848"/>
            <a:ext cx="1737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300" dirty="0">
                <a:solidFill>
                  <a:schemeClr val="tx1"/>
                </a:solidFill>
              </a:rPr>
              <a:t>Mayúsculas, sin tildes; documento solo dígitos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3063240" y="1280160"/>
            <a:ext cx="457200" cy="457200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9" name="Text 7"/>
          <p:cNvSpPr txBox="1"/>
          <p:nvPr/>
        </p:nvSpPr>
        <p:spPr>
          <a:xfrm>
            <a:off x="3063240" y="12801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chemeClr val="bg1"/>
                </a:solidFill>
              </a:rPr>
              <a:t>2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3566160" y="1508760"/>
            <a:ext cx="1371600" cy="0"/>
          </a:xfrm>
          <a:prstGeom prst="line">
            <a:avLst/>
          </a:prstGeom>
          <a:noFill/>
          <a:ln w="19050">
            <a:solidFill>
              <a:srgbClr val="9DC3D1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11" name="Text 9"/>
          <p:cNvSpPr txBox="1"/>
          <p:nvPr/>
        </p:nvSpPr>
        <p:spPr>
          <a:xfrm>
            <a:off x="2423160" y="1828800"/>
            <a:ext cx="1737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500" b="1" dirty="0">
                <a:solidFill>
                  <a:schemeClr val="tx2"/>
                </a:solidFill>
              </a:rPr>
              <a:t>Blocking</a:t>
            </a:r>
            <a:endParaRPr lang="en-US" sz="1500" dirty="0"/>
          </a:p>
        </p:txBody>
      </p:sp>
      <p:sp>
        <p:nvSpPr>
          <p:cNvPr id="12" name="Text 10"/>
          <p:cNvSpPr txBox="1"/>
          <p:nvPr/>
        </p:nvSpPr>
        <p:spPr>
          <a:xfrm>
            <a:off x="2423160" y="2212848"/>
            <a:ext cx="1737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300" dirty="0">
                <a:solidFill>
                  <a:schemeClr val="tx1"/>
                </a:solidFill>
              </a:rPr>
              <a:t>Solo pares que comparten documento, fecha, teléfono o nombre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4937760" y="1280160"/>
            <a:ext cx="457200" cy="45720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14" name="Text 12"/>
          <p:cNvSpPr txBox="1"/>
          <p:nvPr/>
        </p:nvSpPr>
        <p:spPr>
          <a:xfrm>
            <a:off x="4937760" y="12801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chemeClr val="bg1"/>
                </a:solidFill>
              </a:rPr>
              <a:t>3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5440680" y="1508760"/>
            <a:ext cx="1371600" cy="0"/>
          </a:xfrm>
          <a:prstGeom prst="line">
            <a:avLst/>
          </a:prstGeom>
          <a:noFill/>
          <a:ln w="19050">
            <a:solidFill>
              <a:srgbClr val="9DC3D1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16" name="Text 14"/>
          <p:cNvSpPr txBox="1"/>
          <p:nvPr/>
        </p:nvSpPr>
        <p:spPr>
          <a:xfrm>
            <a:off x="4297680" y="1828800"/>
            <a:ext cx="1737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500" b="1" dirty="0">
                <a:solidFill>
                  <a:schemeClr val="tx2"/>
                </a:solidFill>
              </a:rPr>
              <a:t>Comparación</a:t>
            </a:r>
            <a:endParaRPr lang="en-US" sz="1500" dirty="0"/>
          </a:p>
        </p:txBody>
      </p:sp>
      <p:sp>
        <p:nvSpPr>
          <p:cNvPr id="17" name="Text 15"/>
          <p:cNvSpPr txBox="1"/>
          <p:nvPr/>
        </p:nvSpPr>
        <p:spPr>
          <a:xfrm>
            <a:off x="4297680" y="2212848"/>
            <a:ext cx="1737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300" dirty="0">
                <a:solidFill>
                  <a:schemeClr val="tx1"/>
                </a:solidFill>
              </a:rPr>
              <a:t>Similitud de nombres, documento, fecha y contacto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6812280" y="1280160"/>
            <a:ext cx="457200" cy="45720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19" name="Text 17"/>
          <p:cNvSpPr txBox="1"/>
          <p:nvPr/>
        </p:nvSpPr>
        <p:spPr>
          <a:xfrm>
            <a:off x="6812280" y="12801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chemeClr val="bg1"/>
                </a:solidFill>
              </a:rPr>
              <a:t>4</a:t>
            </a:r>
            <a:endParaRPr lang="en-US" sz="1600" dirty="0"/>
          </a:p>
        </p:txBody>
      </p:sp>
      <p:sp>
        <p:nvSpPr>
          <p:cNvPr id="20" name="Shape 18"/>
          <p:cNvSpPr/>
          <p:nvPr/>
        </p:nvSpPr>
        <p:spPr>
          <a:xfrm>
            <a:off x="7315200" y="1508760"/>
            <a:ext cx="1371600" cy="0"/>
          </a:xfrm>
          <a:prstGeom prst="line">
            <a:avLst/>
          </a:prstGeom>
          <a:noFill/>
          <a:ln w="19050">
            <a:solidFill>
              <a:srgbClr val="9DC3D1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21" name="Text 19"/>
          <p:cNvSpPr txBox="1"/>
          <p:nvPr/>
        </p:nvSpPr>
        <p:spPr>
          <a:xfrm>
            <a:off x="6172200" y="1828800"/>
            <a:ext cx="1737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500" b="1" dirty="0">
                <a:solidFill>
                  <a:schemeClr val="tx2"/>
                </a:solidFill>
              </a:rPr>
              <a:t>Puntaje</a:t>
            </a:r>
            <a:endParaRPr lang="en-US" sz="1500" dirty="0"/>
          </a:p>
        </p:txBody>
      </p:sp>
      <p:sp>
        <p:nvSpPr>
          <p:cNvPr id="22" name="Text 20"/>
          <p:cNvSpPr txBox="1"/>
          <p:nvPr/>
        </p:nvSpPr>
        <p:spPr>
          <a:xfrm>
            <a:off x="6172200" y="2212848"/>
            <a:ext cx="1737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300" dirty="0">
                <a:solidFill>
                  <a:schemeClr val="tx1"/>
                </a:solidFill>
              </a:rPr>
              <a:t>Suma ponderada + regla NUIP</a:t>
            </a:r>
            <a:endParaRPr lang="en-US" sz="1300" dirty="0"/>
          </a:p>
        </p:txBody>
      </p:sp>
      <p:sp>
        <p:nvSpPr>
          <p:cNvPr id="23" name="Shape 21"/>
          <p:cNvSpPr/>
          <p:nvPr/>
        </p:nvSpPr>
        <p:spPr>
          <a:xfrm>
            <a:off x="8686800" y="1280160"/>
            <a:ext cx="457200" cy="45720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24" name="Text 22"/>
          <p:cNvSpPr txBox="1"/>
          <p:nvPr/>
        </p:nvSpPr>
        <p:spPr>
          <a:xfrm>
            <a:off x="8686800" y="12801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chemeClr val="bg1"/>
                </a:solidFill>
              </a:rPr>
              <a:t>5</a:t>
            </a:r>
            <a:endParaRPr lang="en-US" sz="1600" dirty="0"/>
          </a:p>
        </p:txBody>
      </p:sp>
      <p:sp>
        <p:nvSpPr>
          <p:cNvPr id="25" name="Shape 23"/>
          <p:cNvSpPr/>
          <p:nvPr/>
        </p:nvSpPr>
        <p:spPr>
          <a:xfrm>
            <a:off x="9189720" y="1508760"/>
            <a:ext cx="1371600" cy="0"/>
          </a:xfrm>
          <a:prstGeom prst="line">
            <a:avLst/>
          </a:prstGeom>
          <a:noFill/>
          <a:ln w="19050">
            <a:solidFill>
              <a:srgbClr val="9DC3D1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26" name="Text 24"/>
          <p:cNvSpPr txBox="1"/>
          <p:nvPr/>
        </p:nvSpPr>
        <p:spPr>
          <a:xfrm>
            <a:off x="8046720" y="1828800"/>
            <a:ext cx="1737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500" b="1" dirty="0">
                <a:solidFill>
                  <a:schemeClr val="tx2"/>
                </a:solidFill>
              </a:rPr>
              <a:t>Agrupación</a:t>
            </a:r>
            <a:endParaRPr lang="en-US" sz="1500" dirty="0"/>
          </a:p>
        </p:txBody>
      </p:sp>
      <p:sp>
        <p:nvSpPr>
          <p:cNvPr id="27" name="Text 25"/>
          <p:cNvSpPr txBox="1"/>
          <p:nvPr/>
        </p:nvSpPr>
        <p:spPr>
          <a:xfrm>
            <a:off x="8046720" y="2212848"/>
            <a:ext cx="1737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300" dirty="0">
                <a:solidFill>
                  <a:schemeClr val="tx1"/>
                </a:solidFill>
              </a:rPr>
              <a:t>Union-find: si A=B y B=C, entonces A=B=C</a:t>
            </a:r>
            <a:endParaRPr lang="en-US" sz="1300" dirty="0"/>
          </a:p>
        </p:txBody>
      </p:sp>
      <p:sp>
        <p:nvSpPr>
          <p:cNvPr id="28" name="Shape 26"/>
          <p:cNvSpPr/>
          <p:nvPr/>
        </p:nvSpPr>
        <p:spPr>
          <a:xfrm>
            <a:off x="10561320" y="1280160"/>
            <a:ext cx="457200" cy="45720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29" name="Text 27"/>
          <p:cNvSpPr txBox="1"/>
          <p:nvPr/>
        </p:nvSpPr>
        <p:spPr>
          <a:xfrm>
            <a:off x="10561320" y="12801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chemeClr val="bg1"/>
                </a:solidFill>
              </a:rPr>
              <a:t>6</a:t>
            </a:r>
            <a:endParaRPr lang="en-US" sz="1600" dirty="0"/>
          </a:p>
        </p:txBody>
      </p:sp>
      <p:sp>
        <p:nvSpPr>
          <p:cNvPr id="30" name="Text 28"/>
          <p:cNvSpPr txBox="1"/>
          <p:nvPr/>
        </p:nvSpPr>
        <p:spPr>
          <a:xfrm>
            <a:off x="9921240" y="1828800"/>
            <a:ext cx="1737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500" b="1" dirty="0">
                <a:solidFill>
                  <a:schemeClr val="tx2"/>
                </a:solidFill>
              </a:rPr>
              <a:t>Registro dorado</a:t>
            </a:r>
            <a:endParaRPr lang="en-US" sz="1500" dirty="0"/>
          </a:p>
        </p:txBody>
      </p:sp>
      <p:sp>
        <p:nvSpPr>
          <p:cNvPr id="31" name="Text 29"/>
          <p:cNvSpPr txBox="1"/>
          <p:nvPr/>
        </p:nvSpPr>
        <p:spPr>
          <a:xfrm>
            <a:off x="9921240" y="2212848"/>
            <a:ext cx="1737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300" dirty="0">
                <a:solidFill>
                  <a:schemeClr val="tx1"/>
                </a:solidFill>
              </a:rPr>
              <a:t>Mejor valor de cada campo; nada se borra</a:t>
            </a:r>
            <a:endParaRPr lang="en-US" sz="1300" dirty="0"/>
          </a:p>
        </p:txBody>
      </p:sp>
      <p:graphicFrame>
        <p:nvGraphicFramePr>
          <p:cNvPr id="32" name="Chart 0"/>
          <p:cNvGraphicFramePr/>
          <p:nvPr/>
        </p:nvGraphicFramePr>
        <p:xfrm>
          <a:off x="548640" y="3246120"/>
          <a:ext cx="4937760" cy="292608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33" name="Text 30"/>
          <p:cNvSpPr txBox="1"/>
          <p:nvPr/>
        </p:nvSpPr>
        <p:spPr>
          <a:xfrm>
            <a:off x="5943600" y="3246120"/>
            <a:ext cx="569671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chemeClr val="tx2"/>
                </a:solidFill>
              </a:rPr>
              <a:t>Zonas de decisión y resultado de la ejecución final</a:t>
            </a:r>
            <a:endParaRPr lang="en-US" sz="1300" dirty="0"/>
          </a:p>
        </p:txBody>
      </p:sp>
      <p:sp>
        <p:nvSpPr>
          <p:cNvPr id="34" name="Shape 31"/>
          <p:cNvSpPr/>
          <p:nvPr/>
        </p:nvSpPr>
        <p:spPr>
          <a:xfrm>
            <a:off x="5943600" y="3611880"/>
            <a:ext cx="3133192" cy="502920"/>
          </a:xfrm>
          <a:prstGeom prst="rect">
            <a:avLst/>
          </a:prstGeom>
          <a:solidFill>
            <a:schemeClr val="accent5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35" name="Text 32"/>
          <p:cNvSpPr txBox="1"/>
          <p:nvPr/>
        </p:nvSpPr>
        <p:spPr>
          <a:xfrm>
            <a:off x="5943600" y="3611880"/>
            <a:ext cx="313319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chemeClr val="bg1"/>
                </a:solidFill>
              </a:rPr>
              <a:t>&lt; 0,55</a:t>
            </a:r>
            <a:endParaRPr lang="en-US" sz="1300" dirty="0"/>
          </a:p>
        </p:txBody>
      </p:sp>
      <p:sp>
        <p:nvSpPr>
          <p:cNvPr id="36" name="Shape 33"/>
          <p:cNvSpPr/>
          <p:nvPr/>
        </p:nvSpPr>
        <p:spPr>
          <a:xfrm>
            <a:off x="9076792" y="3611880"/>
            <a:ext cx="1709014" cy="502920"/>
          </a:xfrm>
          <a:prstGeom prst="rect">
            <a:avLst/>
          </a:prstGeom>
          <a:solidFill>
            <a:schemeClr val="accent2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37" name="Text 34"/>
          <p:cNvSpPr txBox="1"/>
          <p:nvPr/>
        </p:nvSpPr>
        <p:spPr>
          <a:xfrm>
            <a:off x="9076792" y="3611880"/>
            <a:ext cx="170901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chemeClr val="bg1"/>
                </a:solidFill>
              </a:rPr>
              <a:t>0,55 – 0,85</a:t>
            </a:r>
            <a:endParaRPr lang="en-US" sz="1300" dirty="0"/>
          </a:p>
        </p:txBody>
      </p:sp>
      <p:sp>
        <p:nvSpPr>
          <p:cNvPr id="38" name="Shape 35"/>
          <p:cNvSpPr/>
          <p:nvPr/>
        </p:nvSpPr>
        <p:spPr>
          <a:xfrm>
            <a:off x="10785805" y="3611880"/>
            <a:ext cx="854507" cy="502920"/>
          </a:xfrm>
          <a:prstGeom prst="rect">
            <a:avLst/>
          </a:prstGeom>
          <a:solidFill>
            <a:schemeClr val="accent1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39" name="Text 36"/>
          <p:cNvSpPr txBox="1"/>
          <p:nvPr/>
        </p:nvSpPr>
        <p:spPr>
          <a:xfrm>
            <a:off x="10785805" y="3611880"/>
            <a:ext cx="854507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chemeClr val="bg1"/>
                </a:solidFill>
              </a:rPr>
              <a:t>≥ 0,85</a:t>
            </a:r>
            <a:endParaRPr lang="en-US" sz="1300" dirty="0"/>
          </a:p>
        </p:txBody>
      </p:sp>
      <p:sp>
        <p:nvSpPr>
          <p:cNvPr id="40" name="tarjeta"/>
          <p:cNvSpPr/>
          <p:nvPr/>
        </p:nvSpPr>
        <p:spPr>
          <a:xfrm>
            <a:off x="5943600" y="4297680"/>
            <a:ext cx="1801368" cy="1600200"/>
          </a:xfrm>
          <a:prstGeom prst="roundRect">
            <a:avLst>
              <a:gd name="adj" fmla="val 6857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41" name="Text 38"/>
          <p:cNvSpPr txBox="1"/>
          <p:nvPr/>
        </p:nvSpPr>
        <p:spPr>
          <a:xfrm>
            <a:off x="6035040" y="4407408"/>
            <a:ext cx="1554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>
              <a:buNone/>
            </a:pPr>
            <a:r>
              <a:rPr lang="en-US" sz="2800" b="1" dirty="0">
                <a:solidFill>
                  <a:schemeClr val="accent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1.373</a:t>
            </a:r>
            <a:endParaRPr lang="en-US" sz="2800" dirty="0"/>
          </a:p>
        </p:txBody>
      </p:sp>
      <p:sp>
        <p:nvSpPr>
          <p:cNvPr id="42" name="Text 39"/>
          <p:cNvSpPr txBox="1"/>
          <p:nvPr/>
        </p:nvSpPr>
        <p:spPr>
          <a:xfrm>
            <a:off x="6080760" y="5047488"/>
            <a:ext cx="15544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chemeClr val="tx1"/>
                </a:solidFill>
              </a:rPr>
              <a:t>pares descartados</a:t>
            </a:r>
            <a:endParaRPr lang="en-US" sz="1300" dirty="0"/>
          </a:p>
        </p:txBody>
      </p:sp>
      <p:sp>
        <p:nvSpPr>
          <p:cNvPr id="43" name="tarjeta"/>
          <p:cNvSpPr/>
          <p:nvPr/>
        </p:nvSpPr>
        <p:spPr>
          <a:xfrm>
            <a:off x="7891272" y="4297680"/>
            <a:ext cx="1801368" cy="1600200"/>
          </a:xfrm>
          <a:prstGeom prst="roundRect">
            <a:avLst>
              <a:gd name="adj" fmla="val 6857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44" name="Text 41"/>
          <p:cNvSpPr txBox="1"/>
          <p:nvPr/>
        </p:nvSpPr>
        <p:spPr>
          <a:xfrm>
            <a:off x="8028432" y="4370832"/>
            <a:ext cx="1554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>
              <a:buNone/>
            </a:pPr>
            <a:r>
              <a:rPr lang="en-US" sz="2800" b="1" dirty="0">
                <a:solidFill>
                  <a:schemeClr val="accent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110</a:t>
            </a:r>
            <a:endParaRPr lang="en-US" sz="2800" dirty="0"/>
          </a:p>
        </p:txBody>
      </p:sp>
      <p:sp>
        <p:nvSpPr>
          <p:cNvPr id="45" name="Text 42"/>
          <p:cNvSpPr txBox="1"/>
          <p:nvPr/>
        </p:nvSpPr>
        <p:spPr>
          <a:xfrm>
            <a:off x="8028432" y="5047488"/>
            <a:ext cx="15544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chemeClr val="tx1"/>
                </a:solidFill>
              </a:rPr>
              <a:t>pares al agente (zona gris)</a:t>
            </a:r>
            <a:endParaRPr lang="en-US" sz="1300" dirty="0"/>
          </a:p>
        </p:txBody>
      </p:sp>
      <p:sp>
        <p:nvSpPr>
          <p:cNvPr id="46" name="tarjeta"/>
          <p:cNvSpPr/>
          <p:nvPr/>
        </p:nvSpPr>
        <p:spPr>
          <a:xfrm>
            <a:off x="9838944" y="4297680"/>
            <a:ext cx="1801368" cy="1600200"/>
          </a:xfrm>
          <a:prstGeom prst="roundRect">
            <a:avLst>
              <a:gd name="adj" fmla="val 6857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47" name="Text 44"/>
          <p:cNvSpPr txBox="1"/>
          <p:nvPr/>
        </p:nvSpPr>
        <p:spPr>
          <a:xfrm>
            <a:off x="9976104" y="4370832"/>
            <a:ext cx="1554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>
              <a:buNone/>
            </a:pPr>
            <a:r>
              <a:rPr lang="en-US" sz="28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167</a:t>
            </a:r>
            <a:endParaRPr lang="en-US" sz="2800" dirty="0"/>
          </a:p>
        </p:txBody>
      </p:sp>
      <p:sp>
        <p:nvSpPr>
          <p:cNvPr id="48" name="Text 45"/>
          <p:cNvSpPr txBox="1"/>
          <p:nvPr/>
        </p:nvSpPr>
        <p:spPr>
          <a:xfrm>
            <a:off x="9976104" y="5047488"/>
            <a:ext cx="15544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chemeClr val="tx1"/>
                </a:solidFill>
              </a:rPr>
              <a:t>fusiones automáticas, todas correctas</a:t>
            </a:r>
            <a:endParaRPr lang="en-US" sz="1300" dirty="0"/>
          </a:p>
        </p:txBody>
      </p:sp>
      <p:sp>
        <p:nvSpPr>
          <p:cNvPr id="49" name="Text 46"/>
          <p:cNvSpPr txBox="1"/>
          <p:nvPr/>
        </p:nvSpPr>
        <p:spPr>
          <a:xfrm>
            <a:off x="5943600" y="5943600"/>
            <a:ext cx="569671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chemeClr val="accent5"/>
                </a:solidFill>
              </a:rPr>
              <a:t>El blocking reduce ~5,5 millones de comparaciones a 1.483 (99,97 % menos), en 2,7 s.</a:t>
            </a:r>
            <a:endParaRPr lang="en-US" sz="1200" dirty="0"/>
          </a:p>
        </p:txBody>
      </p:sp>
      <p:sp>
        <p:nvSpPr>
          <p:cNvPr id="50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5855" y="635508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320040"/>
            <a:ext cx="1109441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chemeClr val="tx2"/>
                </a:solidFill>
              </a:rPr>
              <a:t>El agente aporta juicio donde las reglas dudan</a:t>
            </a:r>
            <a:endParaRPr lang="en-US" sz="3000" dirty="0"/>
          </a:p>
        </p:txBody>
      </p:sp>
      <p:sp>
        <p:nvSpPr>
          <p:cNvPr id="3" name="icono-fondo"/>
          <p:cNvSpPr/>
          <p:nvPr/>
        </p:nvSpPr>
        <p:spPr>
          <a:xfrm>
            <a:off x="548640" y="1325880"/>
            <a:ext cx="548640" cy="548640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pic>
        <p:nvPicPr>
          <p:cNvPr id="4" name="icono-FaBalanceScale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1286" y="1468526"/>
            <a:ext cx="263347" cy="263347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1280160" y="1280160"/>
            <a:ext cx="47548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b="1" dirty="0">
                <a:solidFill>
                  <a:schemeClr val="tx2"/>
                </a:solidFill>
              </a:rPr>
              <a:t>Juez de la zona gris</a:t>
            </a:r>
            <a:endParaRPr lang="en-US" sz="1600" dirty="0"/>
          </a:p>
        </p:txBody>
      </p:sp>
      <p:sp>
        <p:nvSpPr>
          <p:cNvPr id="6" name="Text 3"/>
          <p:cNvSpPr txBox="1"/>
          <p:nvPr/>
        </p:nvSpPr>
        <p:spPr>
          <a:xfrm>
            <a:off x="1280160" y="1627632"/>
            <a:ext cx="4754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chemeClr val="tx1"/>
                </a:solidFill>
              </a:rPr>
              <a:t>Aplica reglas de negocio: NUIP, gemelos, una persona tiene una sola cédula.</a:t>
            </a:r>
            <a:endParaRPr lang="en-US" sz="1400" dirty="0"/>
          </a:p>
        </p:txBody>
      </p:sp>
      <p:sp>
        <p:nvSpPr>
          <p:cNvPr id="7" name="icono-fondo"/>
          <p:cNvSpPr/>
          <p:nvPr/>
        </p:nvSpPr>
        <p:spPr>
          <a:xfrm>
            <a:off x="548640" y="2240280"/>
            <a:ext cx="548640" cy="548640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pic>
        <p:nvPicPr>
          <p:cNvPr id="8" name="icono-FaCommentDots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91286" y="2382926"/>
            <a:ext cx="263347" cy="263347"/>
          </a:xfrm>
          <a:prstGeom prst="rect">
            <a:avLst/>
          </a:prstGeom>
        </p:spPr>
      </p:pic>
      <p:sp>
        <p:nvSpPr>
          <p:cNvPr id="9" name="Text 5"/>
          <p:cNvSpPr txBox="1"/>
          <p:nvPr/>
        </p:nvSpPr>
        <p:spPr>
          <a:xfrm>
            <a:off x="1280160" y="2194560"/>
            <a:ext cx="47548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b="1" dirty="0">
                <a:solidFill>
                  <a:schemeClr val="tx2"/>
                </a:solidFill>
              </a:rPr>
              <a:t>Explica cada decisión</a:t>
            </a:r>
            <a:endParaRPr lang="en-US" sz="1600" dirty="0"/>
          </a:p>
        </p:txBody>
      </p:sp>
      <p:sp>
        <p:nvSpPr>
          <p:cNvPr id="10" name="Text 6"/>
          <p:cNvSpPr txBox="1"/>
          <p:nvPr/>
        </p:nvSpPr>
        <p:spPr>
          <a:xfrm>
            <a:off x="1280160" y="2542032"/>
            <a:ext cx="4754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chemeClr val="tx1"/>
                </a:solidFill>
              </a:rPr>
              <a:t>Decisión, confianza y justificación quedan en log_fusiones.</a:t>
            </a:r>
            <a:endParaRPr lang="en-US" sz="1400" dirty="0"/>
          </a:p>
        </p:txBody>
      </p:sp>
      <p:sp>
        <p:nvSpPr>
          <p:cNvPr id="11" name="icono-fondo"/>
          <p:cNvSpPr/>
          <p:nvPr/>
        </p:nvSpPr>
        <p:spPr>
          <a:xfrm>
            <a:off x="548640" y="3154680"/>
            <a:ext cx="548640" cy="548640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pic>
        <p:nvPicPr>
          <p:cNvPr id="12" name="icono-FaFileAlt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91286" y="3297326"/>
            <a:ext cx="263347" cy="263347"/>
          </a:xfrm>
          <a:prstGeom prst="rect">
            <a:avLst/>
          </a:prstGeom>
        </p:spPr>
      </p:pic>
      <p:sp>
        <p:nvSpPr>
          <p:cNvPr id="13" name="Text 8"/>
          <p:cNvSpPr txBox="1"/>
          <p:nvPr/>
        </p:nvSpPr>
        <p:spPr>
          <a:xfrm>
            <a:off x="1280160" y="3108960"/>
            <a:ext cx="47548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b="1" dirty="0">
                <a:solidFill>
                  <a:schemeClr val="tx2"/>
                </a:solidFill>
              </a:rPr>
              <a:t>Redacta el informe</a:t>
            </a:r>
            <a:endParaRPr lang="en-US" sz="1600" dirty="0"/>
          </a:p>
        </p:txBody>
      </p:sp>
      <p:sp>
        <p:nvSpPr>
          <p:cNvPr id="14" name="Text 9"/>
          <p:cNvSpPr txBox="1"/>
          <p:nvPr/>
        </p:nvSpPr>
        <p:spPr>
          <a:xfrm>
            <a:off x="1280160" y="3456432"/>
            <a:ext cx="4754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chemeClr val="tx1"/>
                </a:solidFill>
              </a:rPr>
              <a:t>Resume cada ejecución y señala anomalías por sí solo.</a:t>
            </a:r>
            <a:endParaRPr lang="en-US" sz="1400" dirty="0"/>
          </a:p>
        </p:txBody>
      </p:sp>
      <p:sp>
        <p:nvSpPr>
          <p:cNvPr id="15" name="tarjeta"/>
          <p:cNvSpPr/>
          <p:nvPr/>
        </p:nvSpPr>
        <p:spPr>
          <a:xfrm>
            <a:off x="548640" y="4160520"/>
            <a:ext cx="5486400" cy="2011680"/>
          </a:xfrm>
          <a:prstGeom prst="roundRect">
            <a:avLst>
              <a:gd name="adj" fmla="val 5455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16" name="Text 11"/>
          <p:cNvSpPr txBox="1"/>
          <p:nvPr/>
        </p:nvSpPr>
        <p:spPr>
          <a:xfrm>
            <a:off x="822960" y="4279392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b="1" dirty="0">
                <a:solidFill>
                  <a:schemeClr val="accent3"/>
                </a:solidFill>
              </a:rPr>
              <a:t>Salvaguardas</a:t>
            </a:r>
            <a:endParaRPr lang="en-US" sz="1600" dirty="0"/>
          </a:p>
        </p:txBody>
      </p:sp>
      <p:sp>
        <p:nvSpPr>
          <p:cNvPr id="17" name="Text 12"/>
          <p:cNvSpPr txBox="1"/>
          <p:nvPr/>
        </p:nvSpPr>
        <p:spPr>
          <a:xfrm>
            <a:off x="822960" y="4681728"/>
            <a:ext cx="502920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Rechaza ids inventados</a:t>
            </a:r>
            <a:endParaRPr lang="en-US" sz="14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Fusiona solo con confianza ≥ 0,80</a:t>
            </a:r>
            <a:endParaRPr lang="en-US" sz="14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INCIERTO → revisión humana</a:t>
            </a:r>
            <a:endParaRPr lang="en-US" sz="14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2.º intento para lotes sin respuesta</a:t>
            </a:r>
            <a:endParaRPr lang="en-US" sz="14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Nunca borra: marca FUSIONADO</a:t>
            </a:r>
            <a:endParaRPr lang="en-US" sz="1400" dirty="0"/>
          </a:p>
        </p:txBody>
      </p:sp>
      <p:sp>
        <p:nvSpPr>
          <p:cNvPr id="18" name="tarjeta"/>
          <p:cNvSpPr/>
          <p:nvPr/>
        </p:nvSpPr>
        <p:spPr>
          <a:xfrm>
            <a:off x="6355080" y="1325880"/>
            <a:ext cx="5285232" cy="2286000"/>
          </a:xfrm>
          <a:prstGeom prst="roundRect">
            <a:avLst>
              <a:gd name="adj" fmla="val 480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19" name="Text 14"/>
          <p:cNvSpPr txBox="1"/>
          <p:nvPr/>
        </p:nvSpPr>
        <p:spPr>
          <a:xfrm>
            <a:off x="6629400" y="1508760"/>
            <a:ext cx="2651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chemeClr val="tx2"/>
                </a:solidFill>
              </a:rPr>
              <a:t>Gemelos</a:t>
            </a:r>
            <a:endParaRPr lang="en-US" sz="1600" dirty="0"/>
          </a:p>
        </p:txBody>
      </p:sp>
      <p:sp>
        <p:nvSpPr>
          <p:cNvPr id="20" name="Shape 15"/>
          <p:cNvSpPr/>
          <p:nvPr/>
        </p:nvSpPr>
        <p:spPr>
          <a:xfrm>
            <a:off x="9326880" y="1508760"/>
            <a:ext cx="1325880" cy="411480"/>
          </a:xfrm>
          <a:prstGeom prst="roundRect">
            <a:avLst>
              <a:gd name="adj" fmla="val 48889"/>
            </a:avLst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21" name="Text 16"/>
          <p:cNvSpPr txBox="1"/>
          <p:nvPr/>
        </p:nvSpPr>
        <p:spPr>
          <a:xfrm>
            <a:off x="9326880" y="1508760"/>
            <a:ext cx="1325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chemeClr val="bg1"/>
                </a:solidFill>
              </a:rPr>
              <a:t>DISTINTO</a:t>
            </a:r>
            <a:endParaRPr lang="en-US" sz="1200" dirty="0"/>
          </a:p>
        </p:txBody>
      </p:sp>
      <p:sp>
        <p:nvSpPr>
          <p:cNvPr id="22" name="Text 17"/>
          <p:cNvSpPr txBox="1"/>
          <p:nvPr/>
        </p:nvSpPr>
        <p:spPr>
          <a:xfrm>
            <a:off x="10744200" y="1508760"/>
            <a:ext cx="685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chemeClr val="accent5"/>
                </a:solidFill>
              </a:rPr>
              <a:t>0,95</a:t>
            </a:r>
            <a:endParaRPr lang="en-US" sz="1300" dirty="0"/>
          </a:p>
        </p:txBody>
      </p:sp>
      <p:sp>
        <p:nvSpPr>
          <p:cNvPr id="23" name="Text 18"/>
          <p:cNvSpPr txBox="1"/>
          <p:nvPr/>
        </p:nvSpPr>
        <p:spPr>
          <a:xfrm>
            <a:off x="6629400" y="2057400"/>
            <a:ext cx="475488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i="1" dirty="0">
                <a:solidFill>
                  <a:schemeClr val="tx1"/>
                </a:solidFill>
              </a:rPr>
              <a:t>“Misma fecha, apellidos y hogar pero distinto primer nombre (Alfonso / Rosa) y dos CC con números completamente distintos; patrón de hermanos gemelos.”</a:t>
            </a:r>
            <a:endParaRPr lang="en-US" sz="1400" dirty="0"/>
          </a:p>
        </p:txBody>
      </p:sp>
      <p:sp>
        <p:nvSpPr>
          <p:cNvPr id="24" name="tarjeta"/>
          <p:cNvSpPr/>
          <p:nvPr/>
        </p:nvSpPr>
        <p:spPr>
          <a:xfrm>
            <a:off x="6355080" y="3794760"/>
            <a:ext cx="5285232" cy="2286000"/>
          </a:xfrm>
          <a:prstGeom prst="roundRect">
            <a:avLst>
              <a:gd name="adj" fmla="val 480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25" name="Text 20"/>
          <p:cNvSpPr txBox="1"/>
          <p:nvPr/>
        </p:nvSpPr>
        <p:spPr>
          <a:xfrm>
            <a:off x="6629400" y="3977640"/>
            <a:ext cx="2651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chemeClr val="tx2"/>
                </a:solidFill>
              </a:rPr>
              <a:t>TI → CC antes del 2000</a:t>
            </a:r>
            <a:endParaRPr lang="en-US" sz="1600" dirty="0"/>
          </a:p>
        </p:txBody>
      </p:sp>
      <p:sp>
        <p:nvSpPr>
          <p:cNvPr id="26" name="Shape 21"/>
          <p:cNvSpPr/>
          <p:nvPr/>
        </p:nvSpPr>
        <p:spPr>
          <a:xfrm>
            <a:off x="9326880" y="3977640"/>
            <a:ext cx="1325880" cy="411480"/>
          </a:xfrm>
          <a:prstGeom prst="roundRect">
            <a:avLst>
              <a:gd name="adj" fmla="val 48889"/>
            </a:avLst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27" name="Text 22"/>
          <p:cNvSpPr txBox="1"/>
          <p:nvPr/>
        </p:nvSpPr>
        <p:spPr>
          <a:xfrm>
            <a:off x="9326880" y="3977640"/>
            <a:ext cx="1325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chemeClr val="bg1"/>
                </a:solidFill>
              </a:rPr>
              <a:t>DUPLICADO</a:t>
            </a:r>
            <a:endParaRPr lang="en-US" sz="1200" dirty="0"/>
          </a:p>
        </p:txBody>
      </p:sp>
      <p:sp>
        <p:nvSpPr>
          <p:cNvPr id="28" name="Text 23"/>
          <p:cNvSpPr txBox="1"/>
          <p:nvPr/>
        </p:nvSpPr>
        <p:spPr>
          <a:xfrm>
            <a:off x="10744200" y="3977640"/>
            <a:ext cx="685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chemeClr val="accent5"/>
                </a:solidFill>
              </a:rPr>
              <a:t>0,97</a:t>
            </a:r>
            <a:endParaRPr lang="en-US" sz="1300" dirty="0"/>
          </a:p>
        </p:txBody>
      </p:sp>
      <p:sp>
        <p:nvSpPr>
          <p:cNvPr id="29" name="Text 24"/>
          <p:cNvSpPr txBox="1"/>
          <p:nvPr/>
        </p:nvSpPr>
        <p:spPr>
          <a:xfrm>
            <a:off x="6629400" y="4526280"/>
            <a:ext cx="475488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i="1" dirty="0">
                <a:solidFill>
                  <a:schemeClr val="tx1"/>
                </a:solidFill>
              </a:rPr>
              <a:t>“El TI 95050347472 empieza por 950503 (AAMMDD), coincide con la fecha de nacimiento; TI a los 14 años y CC a los 20: paso TI→CC coherente.”</a:t>
            </a:r>
            <a:endParaRPr lang="en-US" sz="1400" dirty="0"/>
          </a:p>
        </p:txBody>
      </p:sp>
      <p:sp>
        <p:nvSpPr>
          <p:cNvPr id="30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5855" y="635508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320040"/>
            <a:ext cx="1109441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chemeClr val="tx2"/>
                </a:solidFill>
              </a:rPr>
              <a:t>Cada etapa resuelve su parte y el agente acierta en todo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48640" y="1325880"/>
            <a:ext cx="2926080" cy="640080"/>
          </a:xfrm>
          <a:prstGeom prst="roundRect">
            <a:avLst>
              <a:gd name="adj" fmla="val 14286"/>
            </a:avLst>
          </a:prstGeom>
          <a:solidFill>
            <a:schemeClr val="accent5"/>
          </a:solidFill>
          <a:ln w="12700">
            <a:solidFill>
              <a:schemeClr val="accent5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4" name="Text 2"/>
          <p:cNvSpPr txBox="1"/>
          <p:nvPr/>
        </p:nvSpPr>
        <p:spPr>
          <a:xfrm>
            <a:off x="548640" y="1325880"/>
            <a:ext cx="2926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3.325</a:t>
            </a:r>
            <a:endParaRPr lang="en-US" sz="2200" dirty="0"/>
          </a:p>
        </p:txBody>
      </p:sp>
      <p:sp>
        <p:nvSpPr>
          <p:cNvPr id="5" name="Text 3"/>
          <p:cNvSpPr txBox="1"/>
          <p:nvPr/>
        </p:nvSpPr>
        <p:spPr>
          <a:xfrm>
            <a:off x="3657600" y="1325880"/>
            <a:ext cx="2286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chemeClr val="tx1"/>
                </a:solidFill>
              </a:rPr>
              <a:t>registros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731520" y="2103120"/>
            <a:ext cx="2560320" cy="640080"/>
          </a:xfrm>
          <a:prstGeom prst="roundRect">
            <a:avLst>
              <a:gd name="adj" fmla="val 14286"/>
            </a:avLst>
          </a:prstGeom>
          <a:solidFill>
            <a:schemeClr val="accent5"/>
          </a:solidFill>
          <a:ln w="12700">
            <a:solidFill>
              <a:schemeClr val="accent5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7" name="Text 5"/>
          <p:cNvSpPr txBox="1"/>
          <p:nvPr/>
        </p:nvSpPr>
        <p:spPr>
          <a:xfrm>
            <a:off x="731520" y="2103120"/>
            <a:ext cx="25603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1.483</a:t>
            </a:r>
            <a:endParaRPr lang="en-US" sz="2200" dirty="0"/>
          </a:p>
        </p:txBody>
      </p:sp>
      <p:sp>
        <p:nvSpPr>
          <p:cNvPr id="8" name="Text 6"/>
          <p:cNvSpPr txBox="1"/>
          <p:nvPr/>
        </p:nvSpPr>
        <p:spPr>
          <a:xfrm>
            <a:off x="3657600" y="2103120"/>
            <a:ext cx="2286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chemeClr val="tx1"/>
                </a:solidFill>
              </a:rPr>
              <a:t>pares tras el blocking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914400" y="2880360"/>
            <a:ext cx="2194560" cy="640080"/>
          </a:xfrm>
          <a:prstGeom prst="roundRect">
            <a:avLst>
              <a:gd name="adj" fmla="val 14286"/>
            </a:avLst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10" name="Text 8"/>
          <p:cNvSpPr txBox="1"/>
          <p:nvPr/>
        </p:nvSpPr>
        <p:spPr>
          <a:xfrm>
            <a:off x="914400" y="2880360"/>
            <a:ext cx="21945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277</a:t>
            </a:r>
            <a:endParaRPr lang="en-US" sz="2200" dirty="0"/>
          </a:p>
        </p:txBody>
      </p:sp>
      <p:sp>
        <p:nvSpPr>
          <p:cNvPr id="11" name="Text 9"/>
          <p:cNvSpPr txBox="1"/>
          <p:nvPr/>
        </p:nvSpPr>
        <p:spPr>
          <a:xfrm>
            <a:off x="3657600" y="2880360"/>
            <a:ext cx="2286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chemeClr val="tx1"/>
                </a:solidFill>
              </a:rPr>
              <a:t>con evidencia: 167 automáticos + 110 al agente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1097280" y="3657600"/>
            <a:ext cx="1828800" cy="640080"/>
          </a:xfrm>
          <a:prstGeom prst="roundRect">
            <a:avLst>
              <a:gd name="adj" fmla="val 14286"/>
            </a:avLst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13" name="Text 11"/>
          <p:cNvSpPr txBox="1"/>
          <p:nvPr/>
        </p:nvSpPr>
        <p:spPr>
          <a:xfrm>
            <a:off x="1097280" y="3657600"/>
            <a:ext cx="1828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235</a:t>
            </a:r>
            <a:endParaRPr lang="en-US" sz="2200" dirty="0"/>
          </a:p>
        </p:txBody>
      </p:sp>
      <p:sp>
        <p:nvSpPr>
          <p:cNvPr id="14" name="Text 12"/>
          <p:cNvSpPr txBox="1"/>
          <p:nvPr/>
        </p:nvSpPr>
        <p:spPr>
          <a:xfrm>
            <a:off x="3657600" y="3657600"/>
            <a:ext cx="2286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chemeClr val="tx1"/>
                </a:solidFill>
              </a:rPr>
              <a:t>fusiones: 167 del modelo + 68 del agente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1280160" y="4434840"/>
            <a:ext cx="1463040" cy="640080"/>
          </a:xfrm>
          <a:prstGeom prst="roundRect">
            <a:avLst>
              <a:gd name="adj" fmla="val 14286"/>
            </a:avLst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16" name="Text 14"/>
          <p:cNvSpPr txBox="1"/>
          <p:nvPr/>
        </p:nvSpPr>
        <p:spPr>
          <a:xfrm>
            <a:off x="1280160" y="4434840"/>
            <a:ext cx="1463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</a:t>
            </a:r>
            <a:endParaRPr lang="en-US" sz="2200" dirty="0"/>
          </a:p>
        </p:txBody>
      </p:sp>
      <p:sp>
        <p:nvSpPr>
          <p:cNvPr id="17" name="Text 15"/>
          <p:cNvSpPr txBox="1"/>
          <p:nvPr/>
        </p:nvSpPr>
        <p:spPr>
          <a:xfrm>
            <a:off x="3657600" y="4434840"/>
            <a:ext cx="2286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chemeClr val="tx1"/>
                </a:solidFill>
              </a:rPr>
              <a:t>casos a revisión humana</a:t>
            </a:r>
            <a:endParaRPr lang="en-US" sz="1300" dirty="0"/>
          </a:p>
        </p:txBody>
      </p:sp>
      <p:graphicFrame>
        <p:nvGraphicFramePr>
          <p:cNvPr id="18" name="Chart 0"/>
          <p:cNvGraphicFramePr/>
          <p:nvPr/>
        </p:nvGraphicFramePr>
        <p:xfrm>
          <a:off x="6035040" y="1234440"/>
          <a:ext cx="5605272" cy="402336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19" name="tarjeta"/>
          <p:cNvSpPr/>
          <p:nvPr/>
        </p:nvSpPr>
        <p:spPr>
          <a:xfrm>
            <a:off x="548640" y="5440680"/>
            <a:ext cx="11094415" cy="731520"/>
          </a:xfrm>
          <a:prstGeom prst="roundRect">
            <a:avLst>
              <a:gd name="adj" fmla="val 1500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20" name="Text 17"/>
          <p:cNvSpPr txBox="1"/>
          <p:nvPr/>
        </p:nvSpPr>
        <p:spPr>
          <a:xfrm>
            <a:off x="822960" y="5440680"/>
            <a:ext cx="2103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chemeClr val="accent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1,00  </a:t>
            </a:r>
            <a:r>
              <a:rPr lang="en-US" sz="1300" dirty="0">
                <a:solidFill>
                  <a:schemeClr val="tx1"/>
                </a:solidFill>
              </a:rPr>
              <a:t>Precisión</a:t>
            </a:r>
            <a:endParaRPr lang="en-US" sz="1400" dirty="0"/>
          </a:p>
        </p:txBody>
      </p:sp>
      <p:sp>
        <p:nvSpPr>
          <p:cNvPr id="21" name="Text 18"/>
          <p:cNvSpPr txBox="1"/>
          <p:nvPr/>
        </p:nvSpPr>
        <p:spPr>
          <a:xfrm>
            <a:off x="2971800" y="5440680"/>
            <a:ext cx="2103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chemeClr val="accent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1,00  </a:t>
            </a:r>
            <a:r>
              <a:rPr lang="en-US" sz="1300" dirty="0">
                <a:solidFill>
                  <a:schemeClr val="tx1"/>
                </a:solidFill>
              </a:rPr>
              <a:t>Recall</a:t>
            </a:r>
            <a:endParaRPr lang="en-US" sz="1400" dirty="0"/>
          </a:p>
        </p:txBody>
      </p:sp>
      <p:sp>
        <p:nvSpPr>
          <p:cNvPr id="22" name="Text 19"/>
          <p:cNvSpPr txBox="1"/>
          <p:nvPr/>
        </p:nvSpPr>
        <p:spPr>
          <a:xfrm>
            <a:off x="5120640" y="5440680"/>
            <a:ext cx="2103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chemeClr val="accent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1,00  </a:t>
            </a:r>
            <a:r>
              <a:rPr lang="en-US" sz="1300" dirty="0">
                <a:solidFill>
                  <a:schemeClr val="tx1"/>
                </a:solidFill>
              </a:rPr>
              <a:t>F1</a:t>
            </a:r>
            <a:endParaRPr lang="en-US" sz="1400" dirty="0"/>
          </a:p>
        </p:txBody>
      </p:sp>
      <p:sp>
        <p:nvSpPr>
          <p:cNvPr id="23" name="Text 20"/>
          <p:cNvSpPr txBox="1"/>
          <p:nvPr/>
        </p:nvSpPr>
        <p:spPr>
          <a:xfrm>
            <a:off x="7269480" y="5440680"/>
            <a:ext cx="2103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chemeClr val="accent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68/68  </a:t>
            </a:r>
            <a:r>
              <a:rPr lang="en-US" sz="1300" dirty="0">
                <a:solidFill>
                  <a:schemeClr val="tx1"/>
                </a:solidFill>
              </a:rPr>
              <a:t>difíciles</a:t>
            </a:r>
            <a:endParaRPr lang="en-US" sz="1400" dirty="0"/>
          </a:p>
        </p:txBody>
      </p:sp>
      <p:sp>
        <p:nvSpPr>
          <p:cNvPr id="24" name="Text 21"/>
          <p:cNvSpPr txBox="1"/>
          <p:nvPr/>
        </p:nvSpPr>
        <p:spPr>
          <a:xfrm>
            <a:off x="9418320" y="5440680"/>
            <a:ext cx="2103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chemeClr val="accent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42/42  </a:t>
            </a:r>
            <a:r>
              <a:rPr lang="en-US" sz="1300" dirty="0">
                <a:solidFill>
                  <a:schemeClr val="tx1"/>
                </a:solidFill>
              </a:rPr>
              <a:t>trampas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5855" y="635508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320040"/>
            <a:ext cx="1109441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chemeClr val="tx2"/>
                </a:solidFill>
              </a:rPr>
              <a:t>Cuesta centavos; antes de producción, un piloto real</a:t>
            </a:r>
            <a:endParaRPr lang="en-US" sz="3000" dirty="0"/>
          </a:p>
        </p:txBody>
      </p:sp>
      <p:sp>
        <p:nvSpPr>
          <p:cNvPr id="3" name="tarjeta"/>
          <p:cNvSpPr/>
          <p:nvPr/>
        </p:nvSpPr>
        <p:spPr>
          <a:xfrm>
            <a:off x="1618488" y="1280160"/>
            <a:ext cx="2606040" cy="1508760"/>
          </a:xfrm>
          <a:prstGeom prst="roundRect">
            <a:avLst>
              <a:gd name="adj" fmla="val 7273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4" name="Text 2"/>
          <p:cNvSpPr txBox="1"/>
          <p:nvPr/>
        </p:nvSpPr>
        <p:spPr>
          <a:xfrm>
            <a:off x="1847088" y="1371600"/>
            <a:ext cx="22402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>
              <a:buNone/>
            </a:pPr>
            <a:r>
              <a:rPr lang="en-US" sz="3000" b="1" dirty="0">
                <a:solidFill>
                  <a:schemeClr val="accent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98.398</a:t>
            </a:r>
            <a:endParaRPr lang="en-US" sz="3000" dirty="0"/>
          </a:p>
        </p:txBody>
      </p:sp>
      <p:sp>
        <p:nvSpPr>
          <p:cNvPr id="5" name="Text 3"/>
          <p:cNvSpPr txBox="1"/>
          <p:nvPr/>
        </p:nvSpPr>
        <p:spPr>
          <a:xfrm>
            <a:off x="1847088" y="2148840"/>
            <a:ext cx="2240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chemeClr val="tx1"/>
                </a:solidFill>
              </a:rPr>
              <a:t>tokens en la ejecución</a:t>
            </a:r>
            <a:endParaRPr lang="en-US" sz="1300" dirty="0"/>
          </a:p>
        </p:txBody>
      </p:sp>
      <p:sp>
        <p:nvSpPr>
          <p:cNvPr id="6" name="tarjeta"/>
          <p:cNvSpPr/>
          <p:nvPr/>
        </p:nvSpPr>
        <p:spPr>
          <a:xfrm>
            <a:off x="4425696" y="1280160"/>
            <a:ext cx="2606040" cy="1508760"/>
          </a:xfrm>
          <a:prstGeom prst="roundRect">
            <a:avLst>
              <a:gd name="adj" fmla="val 7273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7" name="Text 5"/>
          <p:cNvSpPr txBox="1"/>
          <p:nvPr/>
        </p:nvSpPr>
        <p:spPr>
          <a:xfrm>
            <a:off x="4654296" y="1371600"/>
            <a:ext cx="22402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>
              <a:buNone/>
            </a:pPr>
            <a:r>
              <a:rPr lang="en-US" sz="30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≈ USD 0,015</a:t>
            </a:r>
            <a:endParaRPr lang="en-US" sz="3000" dirty="0"/>
          </a:p>
        </p:txBody>
      </p:sp>
      <p:sp>
        <p:nvSpPr>
          <p:cNvPr id="8" name="Text 6"/>
          <p:cNvSpPr txBox="1"/>
          <p:nvPr/>
        </p:nvSpPr>
        <p:spPr>
          <a:xfrm>
            <a:off x="4654296" y="2148840"/>
            <a:ext cx="2240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chemeClr val="tx1"/>
                </a:solidFill>
              </a:rPr>
              <a:t>por ejecución con Claude Haiku 5.5</a:t>
            </a:r>
            <a:endParaRPr lang="en-US" sz="1300" dirty="0"/>
          </a:p>
        </p:txBody>
      </p:sp>
      <p:sp>
        <p:nvSpPr>
          <p:cNvPr id="9" name="tarjeta"/>
          <p:cNvSpPr/>
          <p:nvPr/>
        </p:nvSpPr>
        <p:spPr>
          <a:xfrm>
            <a:off x="7232904" y="1280160"/>
            <a:ext cx="2606040" cy="1508760"/>
          </a:xfrm>
          <a:prstGeom prst="roundRect">
            <a:avLst>
              <a:gd name="adj" fmla="val 7273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10" name="Text 8"/>
          <p:cNvSpPr txBox="1"/>
          <p:nvPr/>
        </p:nvSpPr>
        <p:spPr>
          <a:xfrm>
            <a:off x="7461504" y="1371600"/>
            <a:ext cx="22402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>
              <a:buNone/>
            </a:pPr>
            <a:r>
              <a:rPr lang="en-US" sz="30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≈ USD 0,45</a:t>
            </a:r>
            <a:endParaRPr lang="en-US" sz="3000" dirty="0"/>
          </a:p>
        </p:txBody>
      </p:sp>
      <p:sp>
        <p:nvSpPr>
          <p:cNvPr id="11" name="Text 9"/>
          <p:cNvSpPr txBox="1"/>
          <p:nvPr/>
        </p:nvSpPr>
        <p:spPr>
          <a:xfrm>
            <a:off x="7461504" y="2148840"/>
            <a:ext cx="2240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chemeClr val="tx1"/>
                </a:solidFill>
              </a:rPr>
              <a:t>proyección con 100.000 clientes</a:t>
            </a:r>
            <a:endParaRPr lang="en-US" sz="1300" dirty="0"/>
          </a:p>
        </p:txBody>
      </p:sp>
      <p:sp>
        <p:nvSpPr>
          <p:cNvPr id="21" name="tarjeta"/>
          <p:cNvSpPr/>
          <p:nvPr/>
        </p:nvSpPr>
        <p:spPr>
          <a:xfrm>
            <a:off x="1604305" y="3000725"/>
            <a:ext cx="2606040" cy="2834640"/>
          </a:xfrm>
          <a:prstGeom prst="roundRect">
            <a:avLst>
              <a:gd name="adj" fmla="val 4211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22" name="icono-fondo"/>
          <p:cNvSpPr/>
          <p:nvPr/>
        </p:nvSpPr>
        <p:spPr>
          <a:xfrm>
            <a:off x="1832905" y="3229325"/>
            <a:ext cx="502920" cy="502920"/>
          </a:xfrm>
          <a:prstGeom prst="ellipse">
            <a:avLst/>
          </a:prstGeom>
          <a:solidFill>
            <a:schemeClr val="accent5"/>
          </a:solidFill>
          <a:ln w="12700">
            <a:solidFill>
              <a:schemeClr val="accent5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pic>
        <p:nvPicPr>
          <p:cNvPr id="23" name="icono-FaSearch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63664" y="3360084"/>
            <a:ext cx="241402" cy="241402"/>
          </a:xfrm>
          <a:prstGeom prst="rect">
            <a:avLst/>
          </a:prstGeom>
        </p:spPr>
      </p:pic>
      <p:sp>
        <p:nvSpPr>
          <p:cNvPr id="24" name="Text 20"/>
          <p:cNvSpPr txBox="1"/>
          <p:nvPr/>
        </p:nvSpPr>
        <p:spPr>
          <a:xfrm>
            <a:off x="2472985" y="3229325"/>
            <a:ext cx="1645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chemeClr val="tx2"/>
                </a:solidFill>
              </a:rPr>
              <a:t>Muestra pequeña</a:t>
            </a:r>
            <a:endParaRPr lang="en-US" sz="1500" dirty="0"/>
          </a:p>
        </p:txBody>
      </p:sp>
      <p:sp>
        <p:nvSpPr>
          <p:cNvPr id="25" name="Text 21"/>
          <p:cNvSpPr txBox="1"/>
          <p:nvPr/>
        </p:nvSpPr>
        <p:spPr>
          <a:xfrm>
            <a:off x="1832905" y="3869405"/>
            <a:ext cx="219456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chemeClr val="tx1"/>
                </a:solidFill>
              </a:rPr>
              <a:t>110/110 equivale a ~97–100 % de exactitud (95 % de confianza).</a:t>
            </a:r>
            <a:endParaRPr lang="en-US" sz="1300" dirty="0"/>
          </a:p>
        </p:txBody>
      </p:sp>
      <p:sp>
        <p:nvSpPr>
          <p:cNvPr id="26" name="Text 22"/>
          <p:cNvSpPr txBox="1"/>
          <p:nvPr/>
        </p:nvSpPr>
        <p:spPr>
          <a:xfrm>
            <a:off x="1832905" y="4966685"/>
            <a:ext cx="21945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chemeClr val="accent5"/>
                </a:solidFill>
              </a:rPr>
              <a:t>→ </a:t>
            </a:r>
            <a:r>
              <a:rPr lang="en-US" sz="1300" b="1" dirty="0">
                <a:solidFill>
                  <a:schemeClr val="tx2"/>
                </a:solidFill>
              </a:rPr>
              <a:t>Piloto con una muestra real etiquetada</a:t>
            </a:r>
            <a:endParaRPr lang="en-US" sz="1300" dirty="0"/>
          </a:p>
        </p:txBody>
      </p:sp>
      <p:sp>
        <p:nvSpPr>
          <p:cNvPr id="27" name="tarjeta"/>
          <p:cNvSpPr/>
          <p:nvPr/>
        </p:nvSpPr>
        <p:spPr>
          <a:xfrm>
            <a:off x="4411513" y="3000725"/>
            <a:ext cx="2606040" cy="2834640"/>
          </a:xfrm>
          <a:prstGeom prst="roundRect">
            <a:avLst>
              <a:gd name="adj" fmla="val 4211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28" name="icono-fondo"/>
          <p:cNvSpPr/>
          <p:nvPr/>
        </p:nvSpPr>
        <p:spPr>
          <a:xfrm>
            <a:off x="4640113" y="3229325"/>
            <a:ext cx="502920" cy="502920"/>
          </a:xfrm>
          <a:prstGeom prst="ellipse">
            <a:avLst/>
          </a:prstGeom>
          <a:solidFill>
            <a:schemeClr val="accent5"/>
          </a:solidFill>
          <a:ln w="12700">
            <a:solidFill>
              <a:schemeClr val="accent5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pic>
        <p:nvPicPr>
          <p:cNvPr id="29" name="icono-FaFlask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70872" y="3360084"/>
            <a:ext cx="241402" cy="241402"/>
          </a:xfrm>
          <a:prstGeom prst="rect">
            <a:avLst/>
          </a:prstGeom>
        </p:spPr>
      </p:pic>
      <p:sp>
        <p:nvSpPr>
          <p:cNvPr id="30" name="Text 25"/>
          <p:cNvSpPr txBox="1"/>
          <p:nvPr/>
        </p:nvSpPr>
        <p:spPr>
          <a:xfrm>
            <a:off x="5280193" y="3229325"/>
            <a:ext cx="1645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chemeClr val="tx2"/>
                </a:solidFill>
              </a:rPr>
              <a:t>Datos sintéticos</a:t>
            </a:r>
            <a:endParaRPr lang="en-US" sz="1500" dirty="0"/>
          </a:p>
        </p:txBody>
      </p:sp>
      <p:sp>
        <p:nvSpPr>
          <p:cNvPr id="31" name="Text 26"/>
          <p:cNvSpPr txBox="1"/>
          <p:nvPr/>
        </p:nvSpPr>
        <p:spPr>
          <a:xfrm>
            <a:off x="4640113" y="3869405"/>
            <a:ext cx="219456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chemeClr val="tx1"/>
                </a:solidFill>
              </a:rPr>
              <a:t>Los errores reales pueden ser otros.</a:t>
            </a:r>
            <a:endParaRPr lang="en-US" sz="1300" dirty="0"/>
          </a:p>
        </p:txBody>
      </p:sp>
      <p:sp>
        <p:nvSpPr>
          <p:cNvPr id="32" name="Text 27"/>
          <p:cNvSpPr txBox="1"/>
          <p:nvPr/>
        </p:nvSpPr>
        <p:spPr>
          <a:xfrm>
            <a:off x="4640113" y="4966685"/>
            <a:ext cx="21945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chemeClr val="accent5"/>
                </a:solidFill>
              </a:rPr>
              <a:t>→ </a:t>
            </a:r>
            <a:r>
              <a:rPr lang="en-US" sz="1300" b="1" dirty="0">
                <a:solidFill>
                  <a:schemeClr val="tx2"/>
                </a:solidFill>
              </a:rPr>
              <a:t>Medir precisión y recall reales</a:t>
            </a:r>
            <a:endParaRPr lang="en-US" sz="1300" dirty="0"/>
          </a:p>
        </p:txBody>
      </p:sp>
      <p:sp>
        <p:nvSpPr>
          <p:cNvPr id="33" name="tarjeta"/>
          <p:cNvSpPr/>
          <p:nvPr/>
        </p:nvSpPr>
        <p:spPr>
          <a:xfrm>
            <a:off x="7218721" y="3000725"/>
            <a:ext cx="2606040" cy="2834640"/>
          </a:xfrm>
          <a:prstGeom prst="roundRect">
            <a:avLst>
              <a:gd name="adj" fmla="val 4211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34" name="icono-fondo"/>
          <p:cNvSpPr/>
          <p:nvPr/>
        </p:nvSpPr>
        <p:spPr>
          <a:xfrm>
            <a:off x="7447321" y="3229325"/>
            <a:ext cx="502920" cy="502920"/>
          </a:xfrm>
          <a:prstGeom prst="ellipse">
            <a:avLst/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pic>
        <p:nvPicPr>
          <p:cNvPr id="35" name="icono-FaGavel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578080" y="3360084"/>
            <a:ext cx="241402" cy="241402"/>
          </a:xfrm>
          <a:prstGeom prst="rect">
            <a:avLst/>
          </a:prstGeom>
        </p:spPr>
      </p:pic>
      <p:sp>
        <p:nvSpPr>
          <p:cNvPr id="36" name="Text 30"/>
          <p:cNvSpPr txBox="1"/>
          <p:nvPr/>
        </p:nvSpPr>
        <p:spPr>
          <a:xfrm>
            <a:off x="8087401" y="3229325"/>
            <a:ext cx="1645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chemeClr val="tx2"/>
                </a:solidFill>
              </a:rPr>
              <a:t>Datos personales</a:t>
            </a:r>
            <a:endParaRPr lang="en-US" sz="1500" dirty="0"/>
          </a:p>
        </p:txBody>
      </p:sp>
      <p:sp>
        <p:nvSpPr>
          <p:cNvPr id="37" name="Text 31"/>
          <p:cNvSpPr txBox="1"/>
          <p:nvPr/>
        </p:nvSpPr>
        <p:spPr>
          <a:xfrm>
            <a:off x="7447321" y="3869405"/>
            <a:ext cx="219456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chemeClr val="tx1"/>
                </a:solidFill>
              </a:rPr>
              <a:t>Usar una API externa requiere validar la Ley 1581.</a:t>
            </a:r>
            <a:endParaRPr lang="en-US" sz="1300" dirty="0"/>
          </a:p>
        </p:txBody>
      </p:sp>
      <p:sp>
        <p:nvSpPr>
          <p:cNvPr id="38" name="Text 32"/>
          <p:cNvSpPr txBox="1"/>
          <p:nvPr/>
        </p:nvSpPr>
        <p:spPr>
          <a:xfrm>
            <a:off x="7447321" y="4966685"/>
            <a:ext cx="21945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chemeClr val="accent3"/>
                </a:solidFill>
              </a:rPr>
              <a:t>→ </a:t>
            </a:r>
            <a:r>
              <a:rPr lang="en-US" sz="1300" b="1" dirty="0">
                <a:solidFill>
                  <a:schemeClr val="tx2"/>
                </a:solidFill>
              </a:rPr>
              <a:t>Validación legal o modelo local (Ollama)</a:t>
            </a:r>
            <a:endParaRPr lang="en-US" sz="1300" dirty="0"/>
          </a:p>
        </p:txBody>
      </p:sp>
      <p:sp>
        <p:nvSpPr>
          <p:cNvPr id="39" name="Text 33"/>
          <p:cNvSpPr txBox="1"/>
          <p:nvPr/>
        </p:nvSpPr>
        <p:spPr>
          <a:xfrm>
            <a:off x="548640" y="5989320"/>
            <a:ext cx="1036289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chemeClr val="accent5"/>
                </a:solidFill>
              </a:rPr>
              <a:t>Haiku 5.5: USD 0,10 / 0,50 por millón de tokens (entrada / salida). Proyección lineal. *Supuesto: 2 min por par revisado a mano.</a:t>
            </a:r>
            <a:endParaRPr lang="en-US" sz="1000" dirty="0"/>
          </a:p>
        </p:txBody>
      </p:sp>
      <p:sp>
        <p:nvSpPr>
          <p:cNvPr id="40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5855" y="635508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320040"/>
            <a:ext cx="1109441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chemeClr val="tx2"/>
                </a:solidFill>
              </a:rPr>
              <a:t>Guía de ejecución</a:t>
            </a:r>
            <a:endParaRPr lang="en-US" sz="3000" dirty="0"/>
          </a:p>
        </p:txBody>
      </p:sp>
      <p:sp>
        <p:nvSpPr>
          <p:cNvPr id="3" name="tarjeta"/>
          <p:cNvSpPr/>
          <p:nvPr/>
        </p:nvSpPr>
        <p:spPr>
          <a:xfrm>
            <a:off x="548640" y="1280160"/>
            <a:ext cx="3657600" cy="4892040"/>
          </a:xfrm>
          <a:prstGeom prst="roundRect">
            <a:avLst>
              <a:gd name="adj" fmla="val 3000"/>
            </a:avLst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4" name="Text 2"/>
          <p:cNvSpPr txBox="1"/>
          <p:nvPr/>
        </p:nvSpPr>
        <p:spPr>
          <a:xfrm>
            <a:off x="822960" y="1417320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700" b="1" dirty="0">
                <a:solidFill>
                  <a:schemeClr val="accent6"/>
                </a:solidFill>
              </a:rPr>
              <a:t>Requisitos</a:t>
            </a:r>
            <a:endParaRPr lang="en-US" sz="1700" dirty="0"/>
          </a:p>
        </p:txBody>
      </p:sp>
      <p:sp>
        <p:nvSpPr>
          <p:cNvPr id="5" name="Text 3"/>
          <p:cNvSpPr txBox="1"/>
          <p:nvPr/>
        </p:nvSpPr>
        <p:spPr>
          <a:xfrm>
            <a:off x="822960" y="1874520"/>
            <a:ext cx="3154680" cy="411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600"/>
              </a:spcAft>
              <a:buNone/>
            </a:pPr>
            <a:r>
              <a:rPr lang="en-US" sz="1400" b="1" dirty="0">
                <a:solidFill>
                  <a:srgbClr val="FFFFFF"/>
                </a:solidFill>
              </a:rPr>
              <a:t>Node.js 24 LTS</a:t>
            </a:r>
            <a:endParaRPr lang="en-US" sz="1400" dirty="0"/>
          </a:p>
          <a:p>
            <a:pPr marL="0" indent="0">
              <a:spcAft>
                <a:spcPts val="600"/>
              </a:spcAft>
              <a:buNone/>
            </a:pPr>
            <a:r>
              <a:rPr lang="en-US" sz="1400" b="1" dirty="0">
                <a:solidFill>
                  <a:srgbClr val="FFFFFF"/>
                </a:solidFill>
              </a:rPr>
              <a:t>n8n</a:t>
            </a:r>
            <a:endParaRPr lang="en-US" sz="1400" dirty="0"/>
          </a:p>
          <a:p>
            <a:pPr marL="0" indent="0">
              <a:spcAft>
                <a:spcPts val="600"/>
              </a:spcAft>
              <a:buNone/>
            </a:pPr>
            <a:r>
              <a:rPr lang="en-US" sz="1200" dirty="0">
                <a:solidFill>
                  <a:srgbClr val="9DC3D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npm install n8n -g</a:t>
            </a:r>
            <a:endParaRPr lang="en-US" sz="1400" dirty="0"/>
          </a:p>
          <a:p>
            <a:pPr marL="0" indent="0">
              <a:spcAft>
                <a:spcPts val="600"/>
              </a:spcAft>
              <a:buNone/>
            </a:pPr>
            <a:r>
              <a:rPr lang="en-US" sz="1400" b="1" dirty="0">
                <a:solidFill>
                  <a:srgbClr val="FFFFFF"/>
                </a:solidFill>
              </a:rPr>
              <a:t>Python 3 + venv</a:t>
            </a:r>
            <a:endParaRPr lang="en-US" sz="1400" dirty="0"/>
          </a:p>
          <a:p>
            <a:pPr marL="0" indent="0">
              <a:spcAft>
                <a:spcPts val="600"/>
              </a:spcAft>
              <a:buNone/>
            </a:pPr>
            <a:r>
              <a:rPr lang="en-US" sz="1200" dirty="0">
                <a:solidFill>
                  <a:srgbClr val="9DC3D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pip install pandas openpyxl faker rapidfuzz scikit-learn</a:t>
            </a:r>
            <a:endParaRPr lang="en-US" sz="1400" dirty="0"/>
          </a:p>
          <a:p>
            <a:pPr marL="0" indent="0">
              <a:spcAft>
                <a:spcPts val="600"/>
              </a:spcAft>
              <a:buNone/>
            </a:pPr>
            <a:r>
              <a:rPr lang="en-US" sz="1400" b="1" dirty="0">
                <a:solidFill>
                  <a:srgbClr val="FFFFFF"/>
                </a:solidFill>
              </a:rPr>
              <a:t>API key de Anthropic</a:t>
            </a:r>
            <a:endParaRPr lang="en-US" sz="1400" dirty="0"/>
          </a:p>
          <a:p>
            <a:pPr marL="0" indent="0">
              <a:spcAft>
                <a:spcPts val="600"/>
              </a:spcAft>
              <a:buNone/>
            </a:pPr>
            <a:r>
              <a:rPr lang="en-US" sz="1200" dirty="0">
                <a:solidFill>
                  <a:srgbClr val="9DC3D1"/>
                </a:solidFill>
              </a:rPr>
              <a:t>credencial «Anthropic» en n8n</a:t>
            </a:r>
            <a:endParaRPr lang="en-US" sz="1400" dirty="0"/>
          </a:p>
          <a:p>
            <a:pPr marL="0" indent="0">
              <a:spcAft>
                <a:spcPts val="600"/>
              </a:spcAft>
              <a:buNone/>
            </a:pPr>
            <a:r>
              <a:rPr lang="en-US" sz="1400" b="1" dirty="0">
                <a:solidFill>
                  <a:srgbClr val="FFFFFF"/>
                </a:solidFill>
              </a:rPr>
              <a:t>Carpeta C:\dedup</a:t>
            </a:r>
            <a:endParaRPr lang="en-US" sz="1400" dirty="0"/>
          </a:p>
          <a:p>
            <a:pPr marL="0" indent="0">
              <a:spcAft>
                <a:spcPts val="600"/>
              </a:spcAft>
              <a:buNone/>
            </a:pPr>
            <a:r>
              <a:rPr lang="en-US" sz="1200" dirty="0">
                <a:solidFill>
                  <a:srgbClr val="9DC3D1"/>
                </a:solidFill>
              </a:rPr>
              <a:t>scripts .py, iniciar_n8n.bat, datos\ y salida\</a:t>
            </a:r>
            <a:endParaRPr lang="en-US" sz="1400" dirty="0"/>
          </a:p>
        </p:txBody>
      </p:sp>
      <p:sp>
        <p:nvSpPr>
          <p:cNvPr id="6" name="tarjeta"/>
          <p:cNvSpPr/>
          <p:nvPr/>
        </p:nvSpPr>
        <p:spPr>
          <a:xfrm>
            <a:off x="4480560" y="1280160"/>
            <a:ext cx="3502152" cy="1417320"/>
          </a:xfrm>
          <a:prstGeom prst="roundRect">
            <a:avLst>
              <a:gd name="adj" fmla="val 7742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7" name="Shape 5"/>
          <p:cNvSpPr/>
          <p:nvPr/>
        </p:nvSpPr>
        <p:spPr>
          <a:xfrm>
            <a:off x="4663440" y="1463040"/>
            <a:ext cx="457200" cy="457200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8" name="Text 6"/>
          <p:cNvSpPr txBox="1"/>
          <p:nvPr/>
        </p:nvSpPr>
        <p:spPr>
          <a:xfrm>
            <a:off x="4663440" y="14630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chemeClr val="bg1"/>
                </a:solidFill>
              </a:rPr>
              <a:t>1</a:t>
            </a:r>
            <a:endParaRPr lang="en-US" sz="1600" dirty="0"/>
          </a:p>
        </p:txBody>
      </p:sp>
      <p:sp>
        <p:nvSpPr>
          <p:cNvPr id="9" name="Text 7"/>
          <p:cNvSpPr txBox="1"/>
          <p:nvPr/>
        </p:nvSpPr>
        <p:spPr>
          <a:xfrm>
            <a:off x="5257800" y="1463040"/>
            <a:ext cx="2606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chemeClr val="tx2"/>
                </a:solidFill>
              </a:rPr>
              <a:t>Generar datos</a:t>
            </a:r>
            <a:endParaRPr lang="en-US" sz="1500" dirty="0"/>
          </a:p>
        </p:txBody>
      </p:sp>
      <p:sp>
        <p:nvSpPr>
          <p:cNvPr id="10" name="Text 8"/>
          <p:cNvSpPr txBox="1"/>
          <p:nvPr/>
        </p:nvSpPr>
        <p:spPr>
          <a:xfrm>
            <a:off x="4663440" y="1993392"/>
            <a:ext cx="31546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python generar_datos.py --salida datos</a:t>
            </a:r>
            <a:endParaRPr lang="en-US" sz="1100" dirty="0"/>
          </a:p>
        </p:txBody>
      </p:sp>
      <p:sp>
        <p:nvSpPr>
          <p:cNvPr id="11" name="tarjeta"/>
          <p:cNvSpPr/>
          <p:nvPr/>
        </p:nvSpPr>
        <p:spPr>
          <a:xfrm>
            <a:off x="8110728" y="1280160"/>
            <a:ext cx="3502152" cy="1417320"/>
          </a:xfrm>
          <a:prstGeom prst="roundRect">
            <a:avLst>
              <a:gd name="adj" fmla="val 7742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12" name="Shape 10"/>
          <p:cNvSpPr/>
          <p:nvPr/>
        </p:nvSpPr>
        <p:spPr>
          <a:xfrm>
            <a:off x="8293608" y="1463040"/>
            <a:ext cx="457200" cy="457200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13" name="Text 11"/>
          <p:cNvSpPr txBox="1"/>
          <p:nvPr/>
        </p:nvSpPr>
        <p:spPr>
          <a:xfrm>
            <a:off x="8293608" y="14630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chemeClr val="bg1"/>
                </a:solidFill>
              </a:rPr>
              <a:t>2</a:t>
            </a:r>
            <a:endParaRPr lang="en-US" sz="1600" dirty="0"/>
          </a:p>
        </p:txBody>
      </p:sp>
      <p:sp>
        <p:nvSpPr>
          <p:cNvPr id="14" name="Text 12"/>
          <p:cNvSpPr txBox="1"/>
          <p:nvPr/>
        </p:nvSpPr>
        <p:spPr>
          <a:xfrm>
            <a:off x="8887968" y="1463040"/>
            <a:ext cx="2606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chemeClr val="tx2"/>
                </a:solidFill>
              </a:rPr>
              <a:t>Iniciar n8n</a:t>
            </a:r>
            <a:endParaRPr lang="en-US" sz="1500" dirty="0"/>
          </a:p>
        </p:txBody>
      </p:sp>
      <p:sp>
        <p:nvSpPr>
          <p:cNvPr id="15" name="Text 13"/>
          <p:cNvSpPr txBox="1"/>
          <p:nvPr/>
        </p:nvSpPr>
        <p:spPr>
          <a:xfrm>
            <a:off x="8293608" y="1993392"/>
            <a:ext cx="31546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chemeClr val="tx1"/>
                </a:solidFill>
              </a:rPr>
              <a:t>Doble clic en iniciar_n8n.bat → localhost:5678</a:t>
            </a:r>
            <a:endParaRPr lang="en-US" sz="1300" dirty="0"/>
          </a:p>
        </p:txBody>
      </p:sp>
      <p:sp>
        <p:nvSpPr>
          <p:cNvPr id="16" name="tarjeta"/>
          <p:cNvSpPr/>
          <p:nvPr/>
        </p:nvSpPr>
        <p:spPr>
          <a:xfrm>
            <a:off x="4480560" y="2852928"/>
            <a:ext cx="3502152" cy="1417320"/>
          </a:xfrm>
          <a:prstGeom prst="roundRect">
            <a:avLst>
              <a:gd name="adj" fmla="val 7742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17" name="Shape 15"/>
          <p:cNvSpPr/>
          <p:nvPr/>
        </p:nvSpPr>
        <p:spPr>
          <a:xfrm>
            <a:off x="4663440" y="3035808"/>
            <a:ext cx="457200" cy="457200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18" name="Text 16"/>
          <p:cNvSpPr txBox="1"/>
          <p:nvPr/>
        </p:nvSpPr>
        <p:spPr>
          <a:xfrm>
            <a:off x="4663440" y="303580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chemeClr val="bg1"/>
                </a:solidFill>
              </a:rPr>
              <a:t>3</a:t>
            </a:r>
            <a:endParaRPr lang="en-US" sz="1600" dirty="0"/>
          </a:p>
        </p:txBody>
      </p:sp>
      <p:sp>
        <p:nvSpPr>
          <p:cNvPr id="19" name="Text 17"/>
          <p:cNvSpPr txBox="1"/>
          <p:nvPr/>
        </p:nvSpPr>
        <p:spPr>
          <a:xfrm>
            <a:off x="5257800" y="3035808"/>
            <a:ext cx="2606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chemeClr val="tx2"/>
                </a:solidFill>
              </a:rPr>
              <a:t>Importar flujos</a:t>
            </a:r>
            <a:endParaRPr lang="en-US" sz="1500" dirty="0"/>
          </a:p>
        </p:txBody>
      </p:sp>
      <p:sp>
        <p:nvSpPr>
          <p:cNvPr id="20" name="Text 18"/>
          <p:cNvSpPr txBox="1"/>
          <p:nvPr/>
        </p:nvSpPr>
        <p:spPr>
          <a:xfrm>
            <a:off x="4663440" y="3566160"/>
            <a:ext cx="31546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chemeClr val="tx1"/>
                </a:solidFill>
              </a:rPr>
              <a:t>flujo_error.json y flujo_dedup_v2.json en workflows vacíos; asignar el error workflow.</a:t>
            </a:r>
            <a:endParaRPr lang="en-US" sz="1300" dirty="0"/>
          </a:p>
        </p:txBody>
      </p:sp>
      <p:sp>
        <p:nvSpPr>
          <p:cNvPr id="21" name="tarjeta"/>
          <p:cNvSpPr/>
          <p:nvPr/>
        </p:nvSpPr>
        <p:spPr>
          <a:xfrm>
            <a:off x="8110728" y="2852928"/>
            <a:ext cx="3502152" cy="1417320"/>
          </a:xfrm>
          <a:prstGeom prst="roundRect">
            <a:avLst>
              <a:gd name="adj" fmla="val 7742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22" name="Shape 20"/>
          <p:cNvSpPr/>
          <p:nvPr/>
        </p:nvSpPr>
        <p:spPr>
          <a:xfrm>
            <a:off x="8293608" y="3035808"/>
            <a:ext cx="457200" cy="457200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23" name="Text 21"/>
          <p:cNvSpPr txBox="1"/>
          <p:nvPr/>
        </p:nvSpPr>
        <p:spPr>
          <a:xfrm>
            <a:off x="8293608" y="303580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chemeClr val="bg1"/>
                </a:solidFill>
              </a:rPr>
              <a:t>4</a:t>
            </a:r>
            <a:endParaRPr lang="en-US" sz="1600" dirty="0"/>
          </a:p>
        </p:txBody>
      </p:sp>
      <p:sp>
        <p:nvSpPr>
          <p:cNvPr id="24" name="Text 22"/>
          <p:cNvSpPr txBox="1"/>
          <p:nvPr/>
        </p:nvSpPr>
        <p:spPr>
          <a:xfrm>
            <a:off x="8887968" y="3035808"/>
            <a:ext cx="2606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chemeClr val="tx2"/>
                </a:solidFill>
              </a:rPr>
              <a:t>Configurar el agente</a:t>
            </a:r>
            <a:endParaRPr lang="en-US" sz="1500" dirty="0"/>
          </a:p>
        </p:txBody>
      </p:sp>
      <p:sp>
        <p:nvSpPr>
          <p:cNvPr id="25" name="Text 23"/>
          <p:cNvSpPr txBox="1"/>
          <p:nvPr/>
        </p:nvSpPr>
        <p:spPr>
          <a:xfrm>
            <a:off x="8293608" y="3566160"/>
            <a:ext cx="31546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chemeClr val="tx1"/>
                </a:solidFill>
              </a:rPr>
              <a:t>Credencial de Anthropic en los 3 nodos «Claude Haiku».</a:t>
            </a:r>
            <a:endParaRPr lang="en-US" sz="1300" dirty="0"/>
          </a:p>
        </p:txBody>
      </p:sp>
      <p:sp>
        <p:nvSpPr>
          <p:cNvPr id="26" name="tarjeta"/>
          <p:cNvSpPr/>
          <p:nvPr/>
        </p:nvSpPr>
        <p:spPr>
          <a:xfrm>
            <a:off x="4480560" y="4425696"/>
            <a:ext cx="3502152" cy="1417320"/>
          </a:xfrm>
          <a:prstGeom prst="roundRect">
            <a:avLst>
              <a:gd name="adj" fmla="val 7742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27" name="Shape 25"/>
          <p:cNvSpPr/>
          <p:nvPr/>
        </p:nvSpPr>
        <p:spPr>
          <a:xfrm>
            <a:off x="4663440" y="4608576"/>
            <a:ext cx="457200" cy="457200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28" name="Text 26"/>
          <p:cNvSpPr txBox="1"/>
          <p:nvPr/>
        </p:nvSpPr>
        <p:spPr>
          <a:xfrm>
            <a:off x="4663440" y="4608576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chemeClr val="bg1"/>
                </a:solidFill>
              </a:rPr>
              <a:t>5</a:t>
            </a:r>
            <a:endParaRPr lang="en-US" sz="1600" dirty="0"/>
          </a:p>
        </p:txBody>
      </p:sp>
      <p:sp>
        <p:nvSpPr>
          <p:cNvPr id="29" name="Text 27"/>
          <p:cNvSpPr txBox="1"/>
          <p:nvPr/>
        </p:nvSpPr>
        <p:spPr>
          <a:xfrm>
            <a:off x="5257800" y="4608576"/>
            <a:ext cx="2606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chemeClr val="tx2"/>
                </a:solidFill>
              </a:rPr>
              <a:t>Disparar</a:t>
            </a:r>
            <a:endParaRPr lang="en-US" sz="1500" dirty="0"/>
          </a:p>
        </p:txBody>
      </p:sp>
      <p:sp>
        <p:nvSpPr>
          <p:cNvPr id="30" name="Text 28"/>
          <p:cNvSpPr txBox="1"/>
          <p:nvPr/>
        </p:nvSpPr>
        <p:spPr>
          <a:xfrm>
            <a:off x="4663440" y="5138928"/>
            <a:ext cx="31546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chemeClr val="tx1"/>
                </a:solidFill>
              </a:rPr>
              <a:t>Fila PENDIENTE en control.xlsx → Execute workflow, o activar (cada 5 min).</a:t>
            </a:r>
            <a:endParaRPr lang="en-US" sz="1300" dirty="0"/>
          </a:p>
        </p:txBody>
      </p:sp>
      <p:sp>
        <p:nvSpPr>
          <p:cNvPr id="31" name="tarjeta"/>
          <p:cNvSpPr/>
          <p:nvPr/>
        </p:nvSpPr>
        <p:spPr>
          <a:xfrm>
            <a:off x="8110728" y="4425696"/>
            <a:ext cx="3502152" cy="1417320"/>
          </a:xfrm>
          <a:prstGeom prst="roundRect">
            <a:avLst>
              <a:gd name="adj" fmla="val 7742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32" name="Shape 30"/>
          <p:cNvSpPr/>
          <p:nvPr/>
        </p:nvSpPr>
        <p:spPr>
          <a:xfrm>
            <a:off x="8293608" y="4608576"/>
            <a:ext cx="457200" cy="457200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33" name="Text 31"/>
          <p:cNvSpPr txBox="1"/>
          <p:nvPr/>
        </p:nvSpPr>
        <p:spPr>
          <a:xfrm>
            <a:off x="8293608" y="4608576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chemeClr val="bg1"/>
                </a:solidFill>
              </a:rPr>
              <a:t>6</a:t>
            </a:r>
            <a:endParaRPr lang="en-US" sz="1600" dirty="0"/>
          </a:p>
        </p:txBody>
      </p:sp>
      <p:sp>
        <p:nvSpPr>
          <p:cNvPr id="34" name="Text 32"/>
          <p:cNvSpPr txBox="1"/>
          <p:nvPr/>
        </p:nvSpPr>
        <p:spPr>
          <a:xfrm>
            <a:off x="8887968" y="4608576"/>
            <a:ext cx="2606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chemeClr val="tx2"/>
                </a:solidFill>
              </a:rPr>
              <a:t>Revisar y evaluar</a:t>
            </a:r>
            <a:endParaRPr lang="en-US" sz="1500" dirty="0"/>
          </a:p>
        </p:txBody>
      </p:sp>
      <p:sp>
        <p:nvSpPr>
          <p:cNvPr id="35" name="Text 33"/>
          <p:cNvSpPr txBox="1"/>
          <p:nvPr/>
        </p:nvSpPr>
        <p:spPr>
          <a:xfrm>
            <a:off x="8293608" y="5138928"/>
            <a:ext cx="31546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chemeClr val="tx1"/>
                </a:solidFill>
              </a:rPr>
              <a:t>informe_&lt;id&gt;.md, revision_humana.xlsx y python evaluar.py (ver notas)</a:t>
            </a:r>
            <a:endParaRPr lang="en-US" sz="1300" dirty="0"/>
          </a:p>
        </p:txBody>
      </p:sp>
      <p:sp>
        <p:nvSpPr>
          <p:cNvPr id="36" name="Text 34"/>
          <p:cNvSpPr txBox="1"/>
          <p:nvPr/>
        </p:nvSpPr>
        <p:spPr>
          <a:xfrm>
            <a:off x="4480560" y="5989320"/>
            <a:ext cx="7132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chemeClr val="accent3"/>
                </a:solidFill>
              </a:rPr>
              <a:t>Antes de ejecutar: cierra los Excel de datos\ (Windows bloquea los archivos abiertos).</a:t>
            </a:r>
            <a:endParaRPr lang="en-US" sz="1100" dirty="0"/>
          </a:p>
        </p:txBody>
      </p:sp>
      <p:sp>
        <p:nvSpPr>
          <p:cNvPr id="37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5855" y="635508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8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Dedup Tinta y Ámbar">
  <a:themeElements>
    <a:clrScheme name="Dedup Tinta y Ámbar">
      <a:dk1>
        <a:srgbClr val="1F2933"/>
      </a:dk1>
      <a:lt1>
        <a:srgbClr val="FFFFFF"/>
      </a:lt1>
      <a:dk2>
        <a:srgbClr val="13293D"/>
      </a:dk2>
      <a:lt2>
        <a:srgbClr val="EEF3F6"/>
      </a:lt2>
      <a:accent1>
        <a:srgbClr val="0F7C80"/>
      </a:accent1>
      <a:accent2>
        <a:srgbClr val="E39B2D"/>
      </a:accent2>
      <a:accent3>
        <a:srgbClr val="C4553A"/>
      </a:accent3>
      <a:accent4>
        <a:srgbClr val="3E8E5E"/>
      </a:accent4>
      <a:accent5>
        <a:srgbClr val="5E6B7D"/>
      </a:accent5>
      <a:accent6>
        <a:srgbClr val="9DC3D1"/>
      </a:accent6>
      <a:hlink>
        <a:srgbClr val="0F7C80"/>
      </a:hlink>
      <a:folHlink>
        <a:srgbClr val="5E6B7D"/>
      </a:folHlink>
    </a:clrScheme>
    <a:fontScheme name="Dedup Tinta y Ámbar">
      <a:majorFont>
        <a:latin typeface="Cambria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110</TotalTime>
  <Words>1592</Words>
  <Application>Microsoft Office PowerPoint</Application>
  <PresentationFormat>Panorámica</PresentationFormat>
  <Paragraphs>189</Paragraphs>
  <Slides>8</Slides>
  <Notes>8</Notes>
  <HiddenSlides>0</HiddenSlides>
  <MMClips>0</MMClips>
  <ScaleCrop>false</ScaleCrop>
  <HeadingPairs>
    <vt:vector size="6" baseType="variant">
      <vt:variant>
        <vt:lpstr>Fuentes usadas</vt:lpstr>
      </vt:variant>
      <vt:variant>
        <vt:i4>4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8</vt:i4>
      </vt:variant>
    </vt:vector>
  </HeadingPairs>
  <TitlesOfParts>
    <vt:vector size="13" baseType="lpstr">
      <vt:lpstr>Arial</vt:lpstr>
      <vt:lpstr>Calibri</vt:lpstr>
      <vt:lpstr>Cambria</vt:lpstr>
      <vt:lpstr>Courier New</vt:lpstr>
      <vt:lpstr>Dedup Tinta y Ámbar</vt:lpstr>
      <vt:lpstr>Deduplicación de clientes con n8n y un agente de IA</vt:lpstr>
      <vt:lpstr>Todos los duplicados resueltos, sin fusiones incorrectas</vt:lpstr>
      <vt:lpstr>n8n orquesta, Python calcula y el agente juzga</vt:lpstr>
      <vt:lpstr>El motor de reglas filtra y resuelve los casos claros</vt:lpstr>
      <vt:lpstr>El agente aporta juicio donde las reglas dudan</vt:lpstr>
      <vt:lpstr>Cada etapa resuelve su parte y el agente acierta en todo</vt:lpstr>
      <vt:lpstr>Cuesta centavos; antes de producción, un piloto real</vt:lpstr>
      <vt:lpstr>Guía de ejecución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Deduplicación de clientes con n8n y un agente de IA</dc:title>
  <dc:subject>PptxGenJS Presentation</dc:subject>
  <dc:creator>Daniel</dc:creator>
  <cp:lastModifiedBy>Daniel Rojas</cp:lastModifiedBy>
  <cp:revision>2</cp:revision>
  <dcterms:created xsi:type="dcterms:W3CDTF">2026-10-20T14:35:38Z</dcterms:created>
  <dcterms:modified xsi:type="dcterms:W3CDTF">2026-10-20T20:54:57Z</dcterms:modified>
</cp:coreProperties>
</file>